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857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3.pn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svg"/><Relationship Id="rId11" Type="http://schemas.openxmlformats.org/officeDocument/2006/relationships/image" Target="../media/image21.jpeg"/><Relationship Id="rId5" Type="http://schemas.openxmlformats.org/officeDocument/2006/relationships/image" Target="../media/image5.png"/><Relationship Id="rId10" Type="http://schemas.openxmlformats.org/officeDocument/2006/relationships/image" Target="../media/image20.svg"/><Relationship Id="rId4" Type="http://schemas.openxmlformats.org/officeDocument/2006/relationships/image" Target="../media/image4.pn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3.pn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png"/><Relationship Id="rId7" Type="http://schemas.openxmlformats.org/officeDocument/2006/relationships/image" Target="../media/image2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31.jpeg"/><Relationship Id="rId5" Type="http://schemas.openxmlformats.org/officeDocument/2006/relationships/image" Target="../media/image5.png"/><Relationship Id="rId10" Type="http://schemas.openxmlformats.org/officeDocument/2006/relationships/image" Target="../media/image30.svg"/><Relationship Id="rId4" Type="http://schemas.openxmlformats.org/officeDocument/2006/relationships/image" Target="../media/image4.png"/><Relationship Id="rId9" Type="http://schemas.openxmlformats.org/officeDocument/2006/relationships/image" Target="../media/image29.sv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22.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5.png"/><Relationship Id="rId10" Type="http://schemas.openxmlformats.org/officeDocument/2006/relationships/image" Target="../media/image33.jpeg"/><Relationship Id="rId4" Type="http://schemas.openxmlformats.org/officeDocument/2006/relationships/image" Target="../media/image4.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232"/>
        </a:solidFill>
        <a:effectLst/>
      </p:bgPr>
    </p:bg>
    <p:spTree>
      <p:nvGrpSpPr>
        <p:cNvPr id="1" name=""/>
        <p:cNvGrpSpPr/>
        <p:nvPr/>
      </p:nvGrpSpPr>
      <p:grpSpPr>
        <a:xfrm>
          <a:off x="0" y="0"/>
          <a:ext cx="0" cy="0"/>
          <a:chOff x="0" y="0"/>
          <a:chExt cx="0" cy="0"/>
        </a:xfrm>
      </p:grpSpPr>
      <p:sp>
        <p:nvSpPr>
          <p:cNvPr id="7" name="Text 0"/>
          <p:cNvSpPr/>
          <p:nvPr/>
        </p:nvSpPr>
        <p:spPr>
          <a:xfrm>
            <a:off x="956733" y="2392887"/>
            <a:ext cx="9905752" cy="1523962"/>
          </a:xfrm>
          <a:prstGeom prst="rect">
            <a:avLst/>
          </a:prstGeom>
          <a:noFill/>
          <a:ln/>
        </p:spPr>
        <p:txBody>
          <a:bodyPr wrap="square" lIns="1016" tIns="1016" rIns="1016" bIns="1016" rtlCol="0" anchor="t"/>
          <a:lstStyle/>
          <a:p>
            <a:pPr marL="0" indent="0" algn="l">
              <a:lnSpc>
                <a:spcPct val="130000"/>
              </a:lnSpc>
              <a:buNone/>
            </a:pPr>
            <a:r>
              <a:rPr lang="en-US" sz="4100" b="1" dirty="0">
                <a:solidFill>
                  <a:srgbClr val="F9DAC1"/>
                </a:solidFill>
                <a:latin typeface="Georgia" pitchFamily="34" charset="0"/>
                <a:ea typeface="Georgia" pitchFamily="34" charset="-122"/>
                <a:cs typeface="Georgia" pitchFamily="34" charset="-120"/>
              </a:rPr>
              <a:t>MANDI-TO-MARKET SUPPLY CHAIN OPTIMIZER</a:t>
            </a:r>
            <a:r>
              <a:rPr lang="en-US" sz="4100" dirty="0">
                <a:solidFill>
                  <a:srgbClr val="F9DAC1"/>
                </a:solidFill>
                <a:latin typeface="Georgia" pitchFamily="34" charset="0"/>
                <a:ea typeface="Georgia" pitchFamily="34" charset="-122"/>
                <a:cs typeface="Georgia" pitchFamily="34" charset="-120"/>
              </a:rPr>
              <a:t>
</a:t>
            </a:r>
            <a:endParaRPr lang="en-US" sz="4100" dirty="0"/>
          </a:p>
        </p:txBody>
      </p:sp>
      <p:sp>
        <p:nvSpPr>
          <p:cNvPr id="8" name="Text 1"/>
          <p:cNvSpPr/>
          <p:nvPr/>
        </p:nvSpPr>
        <p:spPr>
          <a:xfrm>
            <a:off x="1015975" y="3733707"/>
            <a:ext cx="8127797" cy="812780"/>
          </a:xfrm>
          <a:prstGeom prst="rect">
            <a:avLst/>
          </a:prstGeom>
          <a:noFill/>
          <a:ln/>
        </p:spPr>
        <p:txBody>
          <a:bodyPr wrap="square" lIns="1016" tIns="1016" rIns="1016" bIns="1016" rtlCol="0" anchor="t"/>
          <a:lstStyle/>
          <a:p>
            <a:pPr marL="0" indent="0" algn="l">
              <a:lnSpc>
                <a:spcPct val="130000"/>
              </a:lnSpc>
              <a:buNone/>
            </a:pPr>
            <a:r>
              <a:rPr lang="en-US" sz="1700" dirty="0">
                <a:solidFill>
                  <a:srgbClr val="C8B6A6"/>
                </a:solidFill>
                <a:latin typeface="Calibri" pitchFamily="34" charset="0"/>
                <a:ea typeface="Calibri" pitchFamily="34" charset="-122"/>
                <a:cs typeface="Calibri" pitchFamily="34" charset="-120"/>
              </a:rPr>
              <a:t>
</a:t>
            </a:r>
            <a:endParaRPr lang="en-US" sz="1700" dirty="0"/>
          </a:p>
        </p:txBody>
      </p:sp>
      <p:sp>
        <p:nvSpPr>
          <p:cNvPr id="9" name="Text 2"/>
          <p:cNvSpPr/>
          <p:nvPr/>
        </p:nvSpPr>
        <p:spPr>
          <a:xfrm>
            <a:off x="1015975" y="5915211"/>
            <a:ext cx="3809905" cy="304792"/>
          </a:xfrm>
          <a:prstGeom prst="rect">
            <a:avLst/>
          </a:prstGeom>
          <a:noFill/>
          <a:ln/>
        </p:spPr>
        <p:txBody>
          <a:bodyPr wrap="square" lIns="1016" tIns="1016" rIns="1016" bIns="1016" rtlCol="0" anchor="t"/>
          <a:lstStyle/>
          <a:p>
            <a:pPr marL="0" indent="0" algn="l">
              <a:lnSpc>
                <a:spcPct val="130000"/>
              </a:lnSpc>
              <a:buNone/>
            </a:pPr>
            <a:r>
              <a:rPr lang="en-US" sz="1400" dirty="0">
                <a:solidFill>
                  <a:srgbClr val="F9DAC1"/>
                </a:solidFill>
                <a:latin typeface="Georgia" panose="02040502050405020303" pitchFamily="18" charset="0"/>
                <a:ea typeface="Calibri" pitchFamily="34" charset="-122"/>
                <a:cs typeface="Calibri" pitchFamily="34" charset="-120"/>
              </a:rPr>
              <a:t>TEAM MEMBERS:- ARSHDEEP KAUR</a:t>
            </a:r>
            <a:r>
              <a:rPr lang="en-US" sz="1400" dirty="0">
                <a:solidFill>
                  <a:srgbClr val="F9DAC1"/>
                </a:solidFill>
                <a:latin typeface="Calibri" pitchFamily="34" charset="0"/>
                <a:ea typeface="Calibri" pitchFamily="34" charset="-122"/>
                <a:cs typeface="Calibri" pitchFamily="34" charset="-120"/>
              </a:rPr>
              <a:t>
</a:t>
            </a:r>
            <a:endParaRPr lang="en-US" sz="1400" dirty="0"/>
          </a:p>
        </p:txBody>
      </p:sp>
      <p:sp>
        <p:nvSpPr>
          <p:cNvPr id="10" name="Text 3"/>
          <p:cNvSpPr/>
          <p:nvPr/>
        </p:nvSpPr>
        <p:spPr>
          <a:xfrm>
            <a:off x="1015975" y="5504814"/>
            <a:ext cx="5545246" cy="330192"/>
          </a:xfrm>
          <a:prstGeom prst="rect">
            <a:avLst/>
          </a:prstGeom>
          <a:noFill/>
          <a:ln/>
        </p:spPr>
        <p:txBody>
          <a:bodyPr wrap="square" lIns="1016" tIns="1016" rIns="1016" bIns="1016" rtlCol="0" anchor="t"/>
          <a:lstStyle/>
          <a:p>
            <a:pPr marL="0" indent="0" algn="l">
              <a:lnSpc>
                <a:spcPct val="130000"/>
              </a:lnSpc>
              <a:buNone/>
            </a:pPr>
            <a:r>
              <a:rPr lang="en-US" sz="1400" dirty="0">
                <a:solidFill>
                  <a:srgbClr val="E3A087"/>
                </a:solidFill>
                <a:latin typeface="Georgia" panose="02040502050405020303" pitchFamily="18" charset="0"/>
                <a:ea typeface="Calibri" pitchFamily="34" charset="-122"/>
                <a:cs typeface="Calibri" pitchFamily="34" charset="-120"/>
              </a:rPr>
              <a:t>TEAM NAME:-  ONLY ARSH</a:t>
            </a:r>
            <a:r>
              <a:rPr lang="en-US" sz="1200" dirty="0">
                <a:solidFill>
                  <a:srgbClr val="E3A087"/>
                </a:solidFill>
                <a:latin typeface="Calibri" pitchFamily="34" charset="0"/>
                <a:ea typeface="Calibri" pitchFamily="34" charset="-122"/>
                <a:cs typeface="Calibri" pitchFamily="34" charset="-120"/>
              </a:rPr>
              <a:t>
</a:t>
            </a:r>
            <a:endParaRPr lang="en-US" sz="1200" dirty="0"/>
          </a:p>
        </p:txBody>
      </p:sp>
      <p:sp>
        <p:nvSpPr>
          <p:cNvPr id="15" name="TextBox 14">
            <a:extLst>
              <a:ext uri="{FF2B5EF4-FFF2-40B4-BE49-F238E27FC236}">
                <a16:creationId xmlns:a16="http://schemas.microsoft.com/office/drawing/2014/main" id="{2F99A065-05B5-D59E-F286-508565DB388B}"/>
              </a:ext>
            </a:extLst>
          </p:cNvPr>
          <p:cNvSpPr txBox="1"/>
          <p:nvPr/>
        </p:nvSpPr>
        <p:spPr>
          <a:xfrm>
            <a:off x="956733" y="1411234"/>
            <a:ext cx="5663730" cy="400110"/>
          </a:xfrm>
          <a:prstGeom prst="rect">
            <a:avLst/>
          </a:prstGeom>
          <a:noFill/>
        </p:spPr>
        <p:txBody>
          <a:bodyPr wrap="none" rtlCol="0">
            <a:spAutoFit/>
          </a:bodyPr>
          <a:lstStyle/>
          <a:p>
            <a:r>
              <a:rPr lang="en-IN" sz="2000" dirty="0">
                <a:solidFill>
                  <a:schemeClr val="accent2">
                    <a:lumMod val="40000"/>
                    <a:lumOff val="60000"/>
                  </a:schemeClr>
                </a:solidFill>
                <a:latin typeface="Georgia" panose="02040502050405020303" pitchFamily="18" charset="0"/>
              </a:rPr>
              <a:t>AGENTIQ-DATATHON:- TRACK3-AGRI-TECH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00800" y="634984"/>
            <a:ext cx="3555911" cy="5587860"/>
          </a:xfrm>
          <a:prstGeom prst="rect">
            <a:avLst/>
          </a:prstGeom>
        </p:spPr>
      </p:pic>
      <p:pic>
        <p:nvPicPr>
          <p:cNvPr id="7" name="Image 5" descr="preencoded.png"/>
          <p:cNvPicPr>
            <a:picLocks noChangeAspect="1"/>
          </p:cNvPicPr>
          <p:nvPr/>
        </p:nvPicPr>
        <p:blipFill>
          <a:blip r:embed="rId4"/>
          <a:srcRect/>
          <a:stretch/>
        </p:blipFill>
        <p:spPr>
          <a:xfrm>
            <a:off x="8127797" y="761981"/>
            <a:ext cx="3301917" cy="5333867"/>
          </a:xfrm>
          <a:prstGeom prst="rect">
            <a:avLst/>
          </a:prstGeom>
        </p:spPr>
      </p:pic>
      <p:sp>
        <p:nvSpPr>
          <p:cNvPr id="10" name="Text 0"/>
          <p:cNvSpPr/>
          <p:nvPr/>
        </p:nvSpPr>
        <p:spPr>
          <a:xfrm>
            <a:off x="1015975" y="1570744"/>
            <a:ext cx="6502237" cy="1193770"/>
          </a:xfrm>
          <a:prstGeom prst="rect">
            <a:avLst/>
          </a:prstGeom>
          <a:noFill/>
          <a:ln/>
        </p:spPr>
        <p:txBody>
          <a:bodyPr wrap="square" lIns="1016" tIns="1016" rIns="1016" bIns="1016" rtlCol="0" anchor="t"/>
          <a:lstStyle/>
          <a:p>
            <a:pPr marL="0" indent="0" algn="l">
              <a:lnSpc>
                <a:spcPct val="120000"/>
              </a:lnSpc>
              <a:buNone/>
            </a:pPr>
            <a:r>
              <a:rPr lang="en-US" sz="3200" b="1" dirty="0">
                <a:solidFill>
                  <a:srgbClr val="F9DAC1"/>
                </a:solidFill>
                <a:latin typeface="Georgia" pitchFamily="34" charset="0"/>
                <a:ea typeface="Georgia" pitchFamily="34" charset="-122"/>
                <a:cs typeface="Georgia" pitchFamily="34" charset="-120"/>
              </a:rPr>
              <a:t>MANDI-TO-MARKET SUPPLY CHAIN OPTIMIZER
</a:t>
            </a:r>
            <a:endParaRPr lang="en-US" sz="3200" dirty="0"/>
          </a:p>
        </p:txBody>
      </p:sp>
      <p:sp>
        <p:nvSpPr>
          <p:cNvPr id="11" name="Text 1"/>
          <p:cNvSpPr/>
          <p:nvPr/>
        </p:nvSpPr>
        <p:spPr>
          <a:xfrm>
            <a:off x="1015975" y="3276518"/>
            <a:ext cx="6502237" cy="2692333"/>
          </a:xfrm>
          <a:prstGeom prst="rect">
            <a:avLst/>
          </a:prstGeom>
          <a:noFill/>
          <a:ln/>
        </p:spPr>
        <p:txBody>
          <a:bodyPr wrap="square" lIns="1016" tIns="1016" rIns="1016" bIns="1016" rtlCol="0" anchor="t"/>
          <a:lstStyle/>
          <a:p>
            <a:pPr marL="0" indent="0" algn="l">
              <a:lnSpc>
                <a:spcPct val="150000"/>
              </a:lnSpc>
              <a:buNone/>
            </a:pPr>
            <a:r>
              <a:rPr lang="en-US" sz="1300" dirty="0">
                <a:solidFill>
                  <a:srgbClr val="C8B6A6"/>
                </a:solidFill>
                <a:latin typeface="Calibri" pitchFamily="34" charset="0"/>
                <a:ea typeface="Calibri" pitchFamily="34" charset="-122"/>
                <a:cs typeface="Calibri" pitchFamily="34" charset="-120"/>
              </a:rPr>
              <a:t>AgentIQ leverages AI to enhance agricultural supply chain analytics, transforming fragmented data into actionable insights. By integrating diverse datasets, it empowers stakeholders—from farmers to market analysts—to make informed decisions. This innovative platform addresses critical challenges in data accessibility and usability, ultimately driving efficiency and profitability in the agricultural sector. Join us as we explore how AgentIQ revolutionizes supply chain intelligence.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10727580" y="6553036"/>
            <a:ext cx="1387917" cy="228594"/>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599425" y="2505012"/>
            <a:ext cx="3552101" cy="253993"/>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Fragmented Data Sources
</a:t>
            </a:r>
            <a:endParaRPr lang="en-US" sz="1400" dirty="0"/>
          </a:p>
        </p:txBody>
      </p:sp>
      <p:sp>
        <p:nvSpPr>
          <p:cNvPr id="9" name="Text 2"/>
          <p:cNvSpPr/>
          <p:nvPr/>
        </p:nvSpPr>
        <p:spPr>
          <a:xfrm>
            <a:off x="599425" y="2809805"/>
            <a:ext cx="3552101" cy="773411"/>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Disparate datasets hinder effective decision-making in agricultural supply chains.
</a:t>
            </a:r>
            <a:endParaRPr lang="en-US" sz="1300" dirty="0"/>
          </a:p>
        </p:txBody>
      </p:sp>
      <p:sp>
        <p:nvSpPr>
          <p:cNvPr id="10" name="Text 3"/>
          <p:cNvSpPr/>
          <p:nvPr/>
        </p:nvSpPr>
        <p:spPr>
          <a:xfrm>
            <a:off x="4771271" y="2505012"/>
            <a:ext cx="3552101" cy="253993"/>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Unified Intelligence
</a:t>
            </a:r>
            <a:endParaRPr lang="en-US" sz="1400" dirty="0"/>
          </a:p>
        </p:txBody>
      </p:sp>
      <p:sp>
        <p:nvSpPr>
          <p:cNvPr id="11" name="Text 4"/>
          <p:cNvSpPr/>
          <p:nvPr/>
        </p:nvSpPr>
        <p:spPr>
          <a:xfrm>
            <a:off x="4771271" y="2809805"/>
            <a:ext cx="3552101" cy="515606"/>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AgentIQ consolidates data for streamlined analysis and actionable insights.
</a:t>
            </a:r>
            <a:endParaRPr lang="en-US" sz="1300" dirty="0"/>
          </a:p>
        </p:txBody>
      </p:sp>
      <p:sp>
        <p:nvSpPr>
          <p:cNvPr id="12" name="Text 5"/>
          <p:cNvSpPr/>
          <p:nvPr/>
        </p:nvSpPr>
        <p:spPr>
          <a:xfrm>
            <a:off x="599425" y="4411234"/>
            <a:ext cx="3552101"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Natural Language Queries
</a:t>
            </a:r>
            <a:endParaRPr lang="en-US" sz="1400" dirty="0"/>
          </a:p>
        </p:txBody>
      </p:sp>
      <p:sp>
        <p:nvSpPr>
          <p:cNvPr id="13" name="Text 6"/>
          <p:cNvSpPr/>
          <p:nvPr/>
        </p:nvSpPr>
        <p:spPr>
          <a:xfrm>
            <a:off x="599425" y="4716026"/>
            <a:ext cx="3552101" cy="515607"/>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Users can interact with data using intuitive, conversational AI queries.
</a:t>
            </a:r>
            <a:endParaRPr lang="en-US" sz="1300" dirty="0"/>
          </a:p>
        </p:txBody>
      </p:sp>
      <p:sp>
        <p:nvSpPr>
          <p:cNvPr id="14" name="Text 7"/>
          <p:cNvSpPr/>
          <p:nvPr/>
        </p:nvSpPr>
        <p:spPr>
          <a:xfrm>
            <a:off x="4771271" y="4411234"/>
            <a:ext cx="3552101"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Data  Analytics
</a:t>
            </a:r>
            <a:endParaRPr lang="en-US" sz="1400" dirty="0"/>
          </a:p>
        </p:txBody>
      </p:sp>
      <p:sp>
        <p:nvSpPr>
          <p:cNvPr id="15" name="Text 8"/>
          <p:cNvSpPr/>
          <p:nvPr/>
        </p:nvSpPr>
        <p:spPr>
          <a:xfrm>
            <a:off x="4771271" y="4716026"/>
            <a:ext cx="3552101" cy="515607"/>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Enhanced visibility into supply chain dynamics improves operational efficiency.
</a:t>
            </a:r>
            <a:endParaRPr lang="en-US" sz="1300" dirty="0"/>
          </a:p>
        </p:txBody>
      </p:sp>
      <p:sp>
        <p:nvSpPr>
          <p:cNvPr id="16" name="Text 9"/>
          <p:cNvSpPr/>
          <p:nvPr/>
        </p:nvSpPr>
        <p:spPr>
          <a:xfrm>
            <a:off x="10803778" y="6578435"/>
            <a:ext cx="1235521" cy="177795"/>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Georgia" pitchFamily="34" charset="0"/>
                <a:ea typeface="Georgia" pitchFamily="34" charset="-122"/>
                <a:cs typeface="Georgia" pitchFamily="34" charset="-120"/>
              </a:rPr>
              <a:t>Photo by James Baltz
</a:t>
            </a:r>
            <a:endParaRPr lang="en-US" sz="900" dirty="0"/>
          </a:p>
        </p:txBody>
      </p:sp>
      <p:sp>
        <p:nvSpPr>
          <p:cNvPr id="17" name="Text 10"/>
          <p:cNvSpPr/>
          <p:nvPr/>
        </p:nvSpPr>
        <p:spPr>
          <a:xfrm>
            <a:off x="408930" y="1323306"/>
            <a:ext cx="8140496"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F9DAC1"/>
                </a:solidFill>
                <a:latin typeface="Georgia" pitchFamily="34" charset="0"/>
                <a:ea typeface="Georgia" pitchFamily="34" charset="-122"/>
                <a:cs typeface="Georgia" pitchFamily="34" charset="-120"/>
              </a:rPr>
              <a:t> Understanding the Problem and Proposed Solution
</a:t>
            </a:r>
            <a:endParaRPr lang="en-US" sz="2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265" y="2190060"/>
            <a:ext cx="228594" cy="228594"/>
          </a:xfrm>
          <a:prstGeom prst="rect">
            <a:avLst/>
          </a:prstGeom>
        </p:spPr>
      </p:pic>
      <p:pic>
        <p:nvPicPr>
          <p:cNvPr id="19"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61111" y="2190060"/>
            <a:ext cx="228594" cy="228594"/>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9265" y="4096283"/>
            <a:ext cx="228594" cy="228594"/>
          </a:xfrm>
          <a:prstGeom prst="rect">
            <a:avLst/>
          </a:prstGeom>
        </p:spPr>
      </p:pic>
      <p:pic>
        <p:nvPicPr>
          <p:cNvPr id="21"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61111" y="4096283"/>
            <a:ext cx="228594" cy="228594"/>
          </a:xfrm>
          <a:prstGeom prst="rect">
            <a:avLst/>
          </a:prstGeom>
        </p:spPr>
      </p:pic>
      <p:pic>
        <p:nvPicPr>
          <p:cNvPr id="22" name="Image 9" descr="preencoded.png"/>
          <p:cNvPicPr>
            <a:picLocks noChangeAspect="1"/>
          </p:cNvPicPr>
          <p:nvPr/>
        </p:nvPicPr>
        <p:blipFill>
          <a:blip r:embed="rId10"/>
          <a:srcRect/>
          <a:stretch/>
        </p:blipFill>
        <p:spPr>
          <a:xfrm>
            <a:off x="8775480" y="0"/>
            <a:ext cx="3370495" cy="6812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7289617" y="6553037"/>
            <a:ext cx="1462210" cy="228594"/>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1280128" y="2433262"/>
            <a:ext cx="5415144" cy="253992"/>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Disparate Data Sources
</a:t>
            </a:r>
            <a:endParaRPr lang="en-US" sz="1400" dirty="0"/>
          </a:p>
        </p:txBody>
      </p:sp>
      <p:sp>
        <p:nvSpPr>
          <p:cNvPr id="9" name="Text 2"/>
          <p:cNvSpPr/>
          <p:nvPr/>
        </p:nvSpPr>
        <p:spPr>
          <a:xfrm>
            <a:off x="1280128" y="2738054"/>
            <a:ext cx="5415144" cy="515606"/>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Fragmented datasets lead to inefficiencies in agricultural supply chain management.
</a:t>
            </a:r>
            <a:endParaRPr lang="en-US" sz="1300" dirty="0"/>
          </a:p>
        </p:txBody>
      </p:sp>
      <p:sp>
        <p:nvSpPr>
          <p:cNvPr id="10" name="Text 3"/>
          <p:cNvSpPr/>
          <p:nvPr/>
        </p:nvSpPr>
        <p:spPr>
          <a:xfrm>
            <a:off x="1280128" y="3477175"/>
            <a:ext cx="5415144" cy="253992"/>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Inconsistent Data Formats
</a:t>
            </a:r>
            <a:endParaRPr lang="en-US" sz="1400" dirty="0"/>
          </a:p>
        </p:txBody>
      </p:sp>
      <p:sp>
        <p:nvSpPr>
          <p:cNvPr id="11" name="Text 4"/>
          <p:cNvSpPr/>
          <p:nvPr/>
        </p:nvSpPr>
        <p:spPr>
          <a:xfrm>
            <a:off x="1280128" y="3781967"/>
            <a:ext cx="5415144" cy="515606"/>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Diverse formats hinder reliable analysis and decision-making across platforms.
</a:t>
            </a:r>
            <a:endParaRPr lang="en-US" sz="1300" dirty="0"/>
          </a:p>
        </p:txBody>
      </p:sp>
      <p:sp>
        <p:nvSpPr>
          <p:cNvPr id="12" name="Text 5"/>
          <p:cNvSpPr/>
          <p:nvPr/>
        </p:nvSpPr>
        <p:spPr>
          <a:xfrm>
            <a:off x="1280128" y="4521087"/>
            <a:ext cx="5415144"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Manual Interpretation Errors
</a:t>
            </a:r>
            <a:endParaRPr lang="en-US" sz="1400" dirty="0"/>
          </a:p>
        </p:txBody>
      </p:sp>
      <p:sp>
        <p:nvSpPr>
          <p:cNvPr id="13" name="Text 6"/>
          <p:cNvSpPr/>
          <p:nvPr/>
        </p:nvSpPr>
        <p:spPr>
          <a:xfrm>
            <a:off x="1280128" y="4825880"/>
            <a:ext cx="5415144" cy="515609"/>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Relying on manual data interpretation increases the risk of critical signal oversight.
</a:t>
            </a:r>
            <a:endParaRPr lang="en-US" sz="1300" dirty="0"/>
          </a:p>
        </p:txBody>
      </p:sp>
      <p:sp>
        <p:nvSpPr>
          <p:cNvPr id="14" name="Text 7"/>
          <p:cNvSpPr/>
          <p:nvPr/>
        </p:nvSpPr>
        <p:spPr>
          <a:xfrm>
            <a:off x="7365815" y="6578436"/>
            <a:ext cx="1309814" cy="177796"/>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Georgia" pitchFamily="34" charset="0"/>
                <a:ea typeface="Georgia" pitchFamily="34" charset="-122"/>
                <a:cs typeface="Georgia" pitchFamily="34" charset="-120"/>
              </a:rPr>
              <a:t>Photo by no one cares
</a:t>
            </a:r>
            <a:endParaRPr lang="en-US" sz="900" dirty="0"/>
          </a:p>
        </p:txBody>
      </p:sp>
      <p:sp>
        <p:nvSpPr>
          <p:cNvPr id="15" name="Text 8"/>
          <p:cNvSpPr/>
          <p:nvPr/>
        </p:nvSpPr>
        <p:spPr>
          <a:xfrm>
            <a:off x="711182" y="1465543"/>
            <a:ext cx="5994250"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F9DAC1"/>
                </a:solidFill>
                <a:latin typeface="Georgia" pitchFamily="34" charset="0"/>
                <a:ea typeface="Georgia" pitchFamily="34" charset="-122"/>
                <a:cs typeface="Georgia" pitchFamily="34" charset="-120"/>
              </a:rPr>
              <a:t>Problem Statement
</a:t>
            </a:r>
            <a:endParaRPr lang="en-US" sz="2300" dirty="0"/>
          </a:p>
        </p:txBody>
      </p:sp>
      <p:sp>
        <p:nvSpPr>
          <p:cNvPr id="17" name="Shape 10"/>
          <p:cNvSpPr/>
          <p:nvPr/>
        </p:nvSpPr>
        <p:spPr>
          <a:xfrm>
            <a:off x="711182" y="2435800"/>
            <a:ext cx="380990" cy="380990"/>
          </a:xfrm>
          <a:prstGeom prst="ellipse">
            <a:avLst/>
          </a:prstGeom>
          <a:solidFill>
            <a:srgbClr val="E3A087">
              <a:alpha val="12000"/>
            </a:srgbClr>
          </a:solidFill>
          <a:ln/>
        </p:spPr>
      </p:sp>
      <p:pic>
        <p:nvPicPr>
          <p:cNvPr id="18"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080" y="2524698"/>
            <a:ext cx="203194" cy="203194"/>
          </a:xfrm>
          <a:prstGeom prst="rect">
            <a:avLst/>
          </a:prstGeom>
        </p:spPr>
      </p:pic>
      <p:sp>
        <p:nvSpPr>
          <p:cNvPr id="19" name="Shape 11"/>
          <p:cNvSpPr/>
          <p:nvPr/>
        </p:nvSpPr>
        <p:spPr>
          <a:xfrm>
            <a:off x="711182" y="3479713"/>
            <a:ext cx="380990" cy="380990"/>
          </a:xfrm>
          <a:prstGeom prst="ellipse">
            <a:avLst/>
          </a:prstGeom>
          <a:solidFill>
            <a:srgbClr val="E3A087">
              <a:alpha val="12000"/>
            </a:srgbClr>
          </a:solidFill>
          <a:ln/>
        </p:spPr>
      </p:sp>
      <p:pic>
        <p:nvPicPr>
          <p:cNvPr id="20"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0080" y="3568611"/>
            <a:ext cx="203194" cy="203194"/>
          </a:xfrm>
          <a:prstGeom prst="rect">
            <a:avLst/>
          </a:prstGeom>
        </p:spPr>
      </p:pic>
      <p:sp>
        <p:nvSpPr>
          <p:cNvPr id="21" name="Shape 12"/>
          <p:cNvSpPr/>
          <p:nvPr/>
        </p:nvSpPr>
        <p:spPr>
          <a:xfrm>
            <a:off x="711182" y="4523628"/>
            <a:ext cx="380990" cy="380990"/>
          </a:xfrm>
          <a:prstGeom prst="ellipse">
            <a:avLst/>
          </a:prstGeom>
          <a:solidFill>
            <a:srgbClr val="E3A087">
              <a:alpha val="12000"/>
            </a:srgbClr>
          </a:solidFill>
          <a:ln/>
        </p:spPr>
      </p:sp>
      <p:pic>
        <p:nvPicPr>
          <p:cNvPr id="22"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0080" y="4612525"/>
            <a:ext cx="203195" cy="203195"/>
          </a:xfrm>
          <a:prstGeom prst="rect">
            <a:avLst/>
          </a:prstGeom>
        </p:spPr>
      </p:pic>
      <p:pic>
        <p:nvPicPr>
          <p:cNvPr id="24" name="Image 8" descr="preencoded.png"/>
          <p:cNvPicPr>
            <a:picLocks noChangeAspect="1"/>
          </p:cNvPicPr>
          <p:nvPr/>
        </p:nvPicPr>
        <p:blipFill>
          <a:blip r:embed="rId9"/>
          <a:srcRect/>
          <a:stretch/>
        </p:blipFill>
        <p:spPr>
          <a:xfrm>
            <a:off x="7213419" y="0"/>
            <a:ext cx="4932556" cy="6812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232"/>
        </a:solidFill>
        <a:effectLst/>
      </p:bgPr>
    </p:bg>
    <p:spTree>
      <p:nvGrpSpPr>
        <p:cNvPr id="1" name=""/>
        <p:cNvGrpSpPr/>
        <p:nvPr/>
      </p:nvGrpSpPr>
      <p:grpSpPr>
        <a:xfrm>
          <a:off x="0" y="0"/>
          <a:ext cx="0" cy="0"/>
          <a:chOff x="0" y="0"/>
          <a:chExt cx="0" cy="0"/>
        </a:xfrm>
      </p:grpSpPr>
      <p:sp>
        <p:nvSpPr>
          <p:cNvPr id="2" name="Text 0"/>
          <p:cNvSpPr/>
          <p:nvPr/>
        </p:nvSpPr>
        <p:spPr>
          <a:xfrm>
            <a:off x="761981" y="1015975"/>
            <a:ext cx="10667733" cy="660383"/>
          </a:xfrm>
          <a:prstGeom prst="rect">
            <a:avLst/>
          </a:prstGeom>
          <a:noFill/>
          <a:ln/>
        </p:spPr>
        <p:txBody>
          <a:bodyPr wrap="square" lIns="1016" tIns="1016" rIns="1016" bIns="1016" rtlCol="0" anchor="t"/>
          <a:lstStyle/>
          <a:p>
            <a:pPr marL="0" indent="0" algn="l">
              <a:lnSpc>
                <a:spcPct val="120000"/>
              </a:lnSpc>
              <a:buNone/>
            </a:pPr>
            <a:r>
              <a:rPr lang="en-US" sz="2400" b="1" dirty="0">
                <a:solidFill>
                  <a:srgbClr val="F9DAC1"/>
                </a:solidFill>
                <a:latin typeface="Georgia" panose="02040502050405020303" pitchFamily="18" charset="0"/>
                <a:ea typeface="Calibri" pitchFamily="34" charset="-122"/>
                <a:cs typeface="Calibri" pitchFamily="34" charset="-120"/>
              </a:rPr>
              <a:t>AgentIQ Solution Workflow</a:t>
            </a:r>
            <a:r>
              <a:rPr lang="en-US" sz="2900" b="1" dirty="0">
                <a:solidFill>
                  <a:srgbClr val="F9DAC1"/>
                </a:solidFill>
                <a:latin typeface="Calibri" pitchFamily="34" charset="0"/>
                <a:ea typeface="Calibri" pitchFamily="34" charset="-122"/>
                <a:cs typeface="Calibri" pitchFamily="34" charset="-120"/>
              </a:rPr>
              <a:t>
</a:t>
            </a:r>
            <a:endParaRPr lang="en-US" sz="2900" dirty="0"/>
          </a:p>
        </p:txBody>
      </p:sp>
      <p:pic>
        <p:nvPicPr>
          <p:cNvPr id="3" name="Image 0" descr="preencoded.png"/>
          <p:cNvPicPr>
            <a:picLocks noChangeAspect="1"/>
          </p:cNvPicPr>
          <p:nvPr/>
        </p:nvPicPr>
        <p:blipFill>
          <a:blip r:embed="rId3"/>
          <a:srcRect/>
          <a:stretch/>
        </p:blipFill>
        <p:spPr>
          <a:xfrm>
            <a:off x="456866" y="1676358"/>
            <a:ext cx="11277961" cy="4350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7289617" y="6563039"/>
            <a:ext cx="1617146" cy="218593"/>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1224567" y="1477449"/>
            <a:ext cx="5492930" cy="242881"/>
          </a:xfrm>
          <a:prstGeom prst="rect">
            <a:avLst/>
          </a:prstGeom>
          <a:noFill/>
          <a:ln/>
        </p:spPr>
        <p:txBody>
          <a:bodyPr wrap="square" lIns="1016" tIns="1016" rIns="1016" bIns="1016" rtlCol="0" anchor="t"/>
          <a:lstStyle/>
          <a:p>
            <a:pPr marL="0" indent="0">
              <a:lnSpc>
                <a:spcPct val="127513"/>
              </a:lnSpc>
              <a:buNone/>
            </a:pPr>
            <a:r>
              <a:rPr lang="en-US" sz="1400" b="1" dirty="0">
                <a:solidFill>
                  <a:srgbClr val="F9DAC1"/>
                </a:solidFill>
                <a:latin typeface="Georgia" pitchFamily="34" charset="0"/>
                <a:ea typeface="Georgia" pitchFamily="34" charset="-122"/>
                <a:cs typeface="Georgia" pitchFamily="34" charset="-120"/>
              </a:rPr>
              <a:t>Python for Data Cleaning
</a:t>
            </a:r>
            <a:endParaRPr lang="en-US" sz="1400" dirty="0"/>
          </a:p>
        </p:txBody>
      </p:sp>
      <p:sp>
        <p:nvSpPr>
          <p:cNvPr id="9" name="Text 2"/>
          <p:cNvSpPr/>
          <p:nvPr/>
        </p:nvSpPr>
        <p:spPr>
          <a:xfrm>
            <a:off x="1224567" y="1768906"/>
            <a:ext cx="5492930" cy="492749"/>
          </a:xfrm>
          <a:prstGeom prst="rect">
            <a:avLst/>
          </a:prstGeom>
          <a:noFill/>
          <a:ln/>
        </p:spPr>
        <p:txBody>
          <a:bodyPr wrap="square" lIns="1016" tIns="1016" rIns="1016" bIns="1016" rtlCol="0" anchor="t"/>
          <a:lstStyle/>
          <a:p>
            <a:pPr marL="0" indent="0">
              <a:lnSpc>
                <a:spcPct val="149338"/>
              </a:lnSpc>
              <a:buNone/>
            </a:pPr>
            <a:r>
              <a:rPr lang="en-US" sz="1200" dirty="0">
                <a:solidFill>
                  <a:srgbClr val="C8B6A6"/>
                </a:solidFill>
                <a:latin typeface="Georgia" pitchFamily="34" charset="0"/>
                <a:ea typeface="Georgia" pitchFamily="34" charset="-122"/>
                <a:cs typeface="Georgia" pitchFamily="34" charset="-120"/>
              </a:rPr>
              <a:t>Utilizes Python for efficient data cleaning and analysis of agricultural datasets.
</a:t>
            </a:r>
            <a:endParaRPr lang="en-US" sz="1200" dirty="0"/>
          </a:p>
        </p:txBody>
      </p:sp>
      <p:sp>
        <p:nvSpPr>
          <p:cNvPr id="10" name="Text 3"/>
          <p:cNvSpPr/>
          <p:nvPr/>
        </p:nvSpPr>
        <p:spPr>
          <a:xfrm>
            <a:off x="1224567" y="2476281"/>
            <a:ext cx="5492930" cy="242881"/>
          </a:xfrm>
          <a:prstGeom prst="rect">
            <a:avLst/>
          </a:prstGeom>
          <a:noFill/>
          <a:ln/>
        </p:spPr>
        <p:txBody>
          <a:bodyPr wrap="square" lIns="1016" tIns="1016" rIns="1016" bIns="1016" rtlCol="0" anchor="t"/>
          <a:lstStyle/>
          <a:p>
            <a:pPr marL="0" indent="0">
              <a:lnSpc>
                <a:spcPct val="127513"/>
              </a:lnSpc>
              <a:buNone/>
            </a:pPr>
            <a:r>
              <a:rPr lang="en-US" sz="1400" b="1" dirty="0">
                <a:solidFill>
                  <a:srgbClr val="F9DAC1"/>
                </a:solidFill>
                <a:latin typeface="Georgia" pitchFamily="34" charset="0"/>
                <a:ea typeface="Georgia" pitchFamily="34" charset="-122"/>
                <a:cs typeface="Georgia" pitchFamily="34" charset="-120"/>
              </a:rPr>
              <a:t>FastAPI Backend Framework
</a:t>
            </a:r>
            <a:endParaRPr lang="en-US" sz="1400" dirty="0"/>
          </a:p>
        </p:txBody>
      </p:sp>
      <p:sp>
        <p:nvSpPr>
          <p:cNvPr id="11" name="Text 4"/>
          <p:cNvSpPr/>
          <p:nvPr/>
        </p:nvSpPr>
        <p:spPr>
          <a:xfrm>
            <a:off x="1224567" y="2767741"/>
            <a:ext cx="5492930" cy="492745"/>
          </a:xfrm>
          <a:prstGeom prst="rect">
            <a:avLst/>
          </a:prstGeom>
          <a:noFill/>
          <a:ln/>
        </p:spPr>
        <p:txBody>
          <a:bodyPr wrap="square" lIns="1016" tIns="1016" rIns="1016" bIns="1016" rtlCol="0" anchor="t"/>
          <a:lstStyle/>
          <a:p>
            <a:pPr marL="0" indent="0">
              <a:lnSpc>
                <a:spcPct val="149338"/>
              </a:lnSpc>
              <a:buNone/>
            </a:pPr>
            <a:r>
              <a:rPr lang="en-US" sz="1200" dirty="0">
                <a:solidFill>
                  <a:srgbClr val="C8B6A6"/>
                </a:solidFill>
                <a:latin typeface="Georgia" pitchFamily="34" charset="0"/>
                <a:ea typeface="Georgia" pitchFamily="34" charset="-122"/>
                <a:cs typeface="Georgia" pitchFamily="34" charset="-120"/>
              </a:rPr>
              <a:t>FastAPI serves as the backend, ensuring rapid API responses and scalability.
</a:t>
            </a:r>
            <a:endParaRPr lang="en-US" sz="1200" dirty="0"/>
          </a:p>
        </p:txBody>
      </p:sp>
      <p:sp>
        <p:nvSpPr>
          <p:cNvPr id="12" name="Text 5"/>
          <p:cNvSpPr/>
          <p:nvPr/>
        </p:nvSpPr>
        <p:spPr>
          <a:xfrm>
            <a:off x="1224567" y="3475111"/>
            <a:ext cx="5492930" cy="242881"/>
          </a:xfrm>
          <a:prstGeom prst="rect">
            <a:avLst/>
          </a:prstGeom>
          <a:noFill/>
          <a:ln/>
        </p:spPr>
        <p:txBody>
          <a:bodyPr wrap="square" lIns="1016" tIns="1016" rIns="1016" bIns="1016" rtlCol="0" anchor="t"/>
          <a:lstStyle/>
          <a:p>
            <a:pPr marL="0" indent="0">
              <a:lnSpc>
                <a:spcPct val="127513"/>
              </a:lnSpc>
              <a:buNone/>
            </a:pPr>
            <a:r>
              <a:rPr lang="en-US" sz="1400" b="1" dirty="0">
                <a:solidFill>
                  <a:srgbClr val="F9DAC1"/>
                </a:solidFill>
                <a:latin typeface="Georgia" pitchFamily="34" charset="0"/>
                <a:ea typeface="Georgia" pitchFamily="34" charset="-122"/>
                <a:cs typeface="Georgia" pitchFamily="34" charset="-120"/>
              </a:rPr>
              <a:t>Responsive React Dashboard
</a:t>
            </a:r>
            <a:endParaRPr lang="en-US" sz="1400" dirty="0"/>
          </a:p>
        </p:txBody>
      </p:sp>
      <p:sp>
        <p:nvSpPr>
          <p:cNvPr id="13" name="Text 6"/>
          <p:cNvSpPr/>
          <p:nvPr/>
        </p:nvSpPr>
        <p:spPr>
          <a:xfrm>
            <a:off x="1224567" y="3766568"/>
            <a:ext cx="5492930" cy="492749"/>
          </a:xfrm>
          <a:prstGeom prst="rect">
            <a:avLst/>
          </a:prstGeom>
          <a:noFill/>
          <a:ln/>
        </p:spPr>
        <p:txBody>
          <a:bodyPr wrap="square" lIns="1016" tIns="1016" rIns="1016" bIns="1016" rtlCol="0" anchor="t"/>
          <a:lstStyle/>
          <a:p>
            <a:pPr marL="0" indent="0">
              <a:lnSpc>
                <a:spcPct val="149338"/>
              </a:lnSpc>
              <a:buNone/>
            </a:pPr>
            <a:r>
              <a:rPr lang="en-US" sz="1200" dirty="0">
                <a:solidFill>
                  <a:srgbClr val="C8B6A6"/>
                </a:solidFill>
                <a:latin typeface="Georgia" pitchFamily="34" charset="0"/>
                <a:ea typeface="Georgia" pitchFamily="34" charset="-122"/>
                <a:cs typeface="Georgia" pitchFamily="34" charset="-120"/>
              </a:rPr>
              <a:t>The React dashboard provides a user-friendly interface for data visualization.
</a:t>
            </a:r>
            <a:endParaRPr lang="en-US" sz="1200" dirty="0"/>
          </a:p>
        </p:txBody>
      </p:sp>
      <p:sp>
        <p:nvSpPr>
          <p:cNvPr id="14" name="Text 7"/>
          <p:cNvSpPr/>
          <p:nvPr/>
        </p:nvSpPr>
        <p:spPr>
          <a:xfrm>
            <a:off x="1224567" y="4473938"/>
            <a:ext cx="5492930" cy="242881"/>
          </a:xfrm>
          <a:prstGeom prst="rect">
            <a:avLst/>
          </a:prstGeom>
          <a:noFill/>
          <a:ln/>
        </p:spPr>
        <p:txBody>
          <a:bodyPr wrap="square" lIns="1016" tIns="1016" rIns="1016" bIns="1016" rtlCol="0" anchor="t"/>
          <a:lstStyle/>
          <a:p>
            <a:pPr marL="0" indent="0">
              <a:lnSpc>
                <a:spcPct val="127513"/>
              </a:lnSpc>
              <a:buNone/>
            </a:pPr>
            <a:r>
              <a:rPr lang="en-US" sz="1400" b="1" dirty="0">
                <a:solidFill>
                  <a:srgbClr val="F9DAC1"/>
                </a:solidFill>
                <a:latin typeface="Georgia" pitchFamily="34" charset="0"/>
                <a:ea typeface="Georgia" pitchFamily="34" charset="-122"/>
                <a:cs typeface="Georgia" pitchFamily="34" charset="-120"/>
              </a:rPr>
              <a:t>AI Agent Integration
</a:t>
            </a:r>
            <a:endParaRPr lang="en-US" sz="1400" dirty="0"/>
          </a:p>
        </p:txBody>
      </p:sp>
      <p:sp>
        <p:nvSpPr>
          <p:cNvPr id="15" name="Text 8"/>
          <p:cNvSpPr/>
          <p:nvPr/>
        </p:nvSpPr>
        <p:spPr>
          <a:xfrm>
            <a:off x="1224567" y="4765397"/>
            <a:ext cx="5492930" cy="492749"/>
          </a:xfrm>
          <a:prstGeom prst="rect">
            <a:avLst/>
          </a:prstGeom>
          <a:noFill/>
          <a:ln/>
        </p:spPr>
        <p:txBody>
          <a:bodyPr wrap="square" lIns="1016" tIns="1016" rIns="1016" bIns="1016" rtlCol="0" anchor="t"/>
          <a:lstStyle/>
          <a:p>
            <a:pPr marL="0" indent="0">
              <a:lnSpc>
                <a:spcPct val="149338"/>
              </a:lnSpc>
              <a:buNone/>
            </a:pPr>
            <a:r>
              <a:rPr lang="en-US" sz="1200" dirty="0">
                <a:solidFill>
                  <a:srgbClr val="C8B6A6"/>
                </a:solidFill>
                <a:latin typeface="Georgia" pitchFamily="34" charset="0"/>
                <a:ea typeface="Georgia" pitchFamily="34" charset="-122"/>
                <a:cs typeface="Georgia" pitchFamily="34" charset="-120"/>
              </a:rPr>
              <a:t>Integrates an AI agent for natural language processing and user queries.
</a:t>
            </a:r>
            <a:endParaRPr lang="en-US" sz="1200" dirty="0"/>
          </a:p>
        </p:txBody>
      </p:sp>
      <p:sp>
        <p:nvSpPr>
          <p:cNvPr id="16" name="Text 9"/>
          <p:cNvSpPr/>
          <p:nvPr/>
        </p:nvSpPr>
        <p:spPr>
          <a:xfrm>
            <a:off x="1224567" y="5472773"/>
            <a:ext cx="5492930" cy="242881"/>
          </a:xfrm>
          <a:prstGeom prst="rect">
            <a:avLst/>
          </a:prstGeom>
          <a:noFill/>
          <a:ln/>
        </p:spPr>
        <p:txBody>
          <a:bodyPr wrap="square" lIns="1016" tIns="1016" rIns="1016" bIns="1016" rtlCol="0" anchor="t"/>
          <a:lstStyle/>
          <a:p>
            <a:pPr marL="0" indent="0">
              <a:lnSpc>
                <a:spcPct val="127513"/>
              </a:lnSpc>
              <a:buNone/>
            </a:pPr>
            <a:r>
              <a:rPr lang="en-US" sz="1400" b="1" dirty="0">
                <a:solidFill>
                  <a:srgbClr val="F9DAC1"/>
                </a:solidFill>
                <a:latin typeface="Georgia" pitchFamily="34" charset="0"/>
                <a:ea typeface="Georgia" pitchFamily="34" charset="-122"/>
                <a:cs typeface="Georgia" pitchFamily="34" charset="-120"/>
              </a:rPr>
              <a:t>Secure Data Handling
</a:t>
            </a:r>
            <a:endParaRPr lang="en-US" sz="1400" dirty="0"/>
          </a:p>
        </p:txBody>
      </p:sp>
      <p:sp>
        <p:nvSpPr>
          <p:cNvPr id="17" name="Text 10"/>
          <p:cNvSpPr/>
          <p:nvPr/>
        </p:nvSpPr>
        <p:spPr>
          <a:xfrm>
            <a:off x="1224567" y="5764230"/>
            <a:ext cx="5492930" cy="492745"/>
          </a:xfrm>
          <a:prstGeom prst="rect">
            <a:avLst/>
          </a:prstGeom>
          <a:noFill/>
          <a:ln/>
        </p:spPr>
        <p:txBody>
          <a:bodyPr wrap="square" lIns="1016" tIns="1016" rIns="1016" bIns="1016" rtlCol="0" anchor="t"/>
          <a:lstStyle/>
          <a:p>
            <a:pPr marL="0" indent="0">
              <a:lnSpc>
                <a:spcPct val="149338"/>
              </a:lnSpc>
              <a:buNone/>
            </a:pPr>
            <a:r>
              <a:rPr lang="en-US" sz="1200" dirty="0">
                <a:solidFill>
                  <a:srgbClr val="C8B6A6"/>
                </a:solidFill>
                <a:latin typeface="Georgia" pitchFamily="34" charset="0"/>
                <a:ea typeface="Georgia" pitchFamily="34" charset="-122"/>
                <a:cs typeface="Georgia" pitchFamily="34" charset="-120"/>
              </a:rPr>
              <a:t>Ensures secure handling of data through structured access and execution limits.
</a:t>
            </a:r>
            <a:endParaRPr lang="en-US" sz="1200" dirty="0"/>
          </a:p>
        </p:txBody>
      </p:sp>
      <p:sp>
        <p:nvSpPr>
          <p:cNvPr id="18" name="Text 11"/>
          <p:cNvSpPr/>
          <p:nvPr/>
        </p:nvSpPr>
        <p:spPr>
          <a:xfrm>
            <a:off x="7362481" y="6587327"/>
            <a:ext cx="1471417" cy="170017"/>
          </a:xfrm>
          <a:prstGeom prst="rect">
            <a:avLst/>
          </a:prstGeom>
          <a:noFill/>
          <a:ln/>
        </p:spPr>
        <p:txBody>
          <a:bodyPr wrap="square" lIns="1016" tIns="1016" rIns="1016" bIns="1016" rtlCol="0" anchor="t"/>
          <a:lstStyle/>
          <a:p>
            <a:pPr marL="0" indent="0">
              <a:lnSpc>
                <a:spcPct val="133889"/>
              </a:lnSpc>
              <a:buNone/>
            </a:pPr>
            <a:r>
              <a:rPr lang="en-US" sz="900" dirty="0">
                <a:solidFill>
                  <a:srgbClr val="FFFFFF"/>
                </a:solidFill>
                <a:latin typeface="Georgia" pitchFamily="34" charset="0"/>
                <a:ea typeface="Georgia" pitchFamily="34" charset="-122"/>
                <a:cs typeface="Georgia" pitchFamily="34" charset="-120"/>
              </a:rPr>
              <a:t>Photo by Chris Ensminger
</a:t>
            </a:r>
            <a:endParaRPr lang="en-US" sz="900" dirty="0"/>
          </a:p>
        </p:txBody>
      </p:sp>
      <p:sp>
        <p:nvSpPr>
          <p:cNvPr id="19" name="Text 12"/>
          <p:cNvSpPr/>
          <p:nvPr/>
        </p:nvSpPr>
        <p:spPr>
          <a:xfrm>
            <a:off x="680068" y="590695"/>
            <a:ext cx="6047589" cy="378771"/>
          </a:xfrm>
          <a:prstGeom prst="rect">
            <a:avLst/>
          </a:prstGeom>
          <a:noFill/>
          <a:ln/>
        </p:spPr>
        <p:txBody>
          <a:bodyPr wrap="square" lIns="1016" tIns="1016" rIns="1016" bIns="1016" rtlCol="0" anchor="t"/>
          <a:lstStyle/>
          <a:p>
            <a:pPr marL="0" indent="0">
              <a:lnSpc>
                <a:spcPct val="119352"/>
              </a:lnSpc>
              <a:buNone/>
            </a:pPr>
            <a:r>
              <a:rPr lang="en-US" sz="2300" b="1" dirty="0">
                <a:solidFill>
                  <a:srgbClr val="F9DAC1"/>
                </a:solidFill>
                <a:latin typeface="Georgia" pitchFamily="34" charset="0"/>
                <a:ea typeface="Georgia" pitchFamily="34" charset="-122"/>
                <a:cs typeface="Georgia" pitchFamily="34" charset="-120"/>
              </a:rPr>
              <a:t>Technical Approach
</a:t>
            </a:r>
            <a:endParaRPr lang="en-US" sz="2300" dirty="0"/>
          </a:p>
        </p:txBody>
      </p:sp>
      <p:sp>
        <p:nvSpPr>
          <p:cNvPr id="21" name="Shape 14"/>
          <p:cNvSpPr/>
          <p:nvPr/>
        </p:nvSpPr>
        <p:spPr>
          <a:xfrm>
            <a:off x="680068" y="1479992"/>
            <a:ext cx="364322" cy="364322"/>
          </a:xfrm>
          <a:prstGeom prst="ellipse">
            <a:avLst/>
          </a:prstGeom>
          <a:solidFill>
            <a:srgbClr val="E3A087">
              <a:alpha val="12000"/>
            </a:srgbClr>
          </a:solidFill>
          <a:ln/>
        </p:spPr>
      </p:sp>
      <p:pic>
        <p:nvPicPr>
          <p:cNvPr id="22"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4997" y="1564921"/>
            <a:ext cx="194305" cy="194305"/>
          </a:xfrm>
          <a:prstGeom prst="rect">
            <a:avLst/>
          </a:prstGeom>
        </p:spPr>
      </p:pic>
      <p:sp>
        <p:nvSpPr>
          <p:cNvPr id="23" name="Shape 15"/>
          <p:cNvSpPr/>
          <p:nvPr/>
        </p:nvSpPr>
        <p:spPr>
          <a:xfrm>
            <a:off x="680068" y="2478819"/>
            <a:ext cx="364322" cy="364322"/>
          </a:xfrm>
          <a:prstGeom prst="ellipse">
            <a:avLst/>
          </a:prstGeom>
          <a:solidFill>
            <a:srgbClr val="E3A087">
              <a:alpha val="12000"/>
            </a:srgbClr>
          </a:solidFill>
          <a:ln/>
        </p:spPr>
      </p:sp>
      <p:pic>
        <p:nvPicPr>
          <p:cNvPr id="24"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4997" y="2563748"/>
            <a:ext cx="194305" cy="194305"/>
          </a:xfrm>
          <a:prstGeom prst="rect">
            <a:avLst/>
          </a:prstGeom>
        </p:spPr>
      </p:pic>
      <p:sp>
        <p:nvSpPr>
          <p:cNvPr id="25" name="Shape 16"/>
          <p:cNvSpPr/>
          <p:nvPr/>
        </p:nvSpPr>
        <p:spPr>
          <a:xfrm>
            <a:off x="680068" y="3477649"/>
            <a:ext cx="364322" cy="364322"/>
          </a:xfrm>
          <a:prstGeom prst="ellipse">
            <a:avLst/>
          </a:prstGeom>
          <a:solidFill>
            <a:srgbClr val="E3A087">
              <a:alpha val="12000"/>
            </a:srgbClr>
          </a:solidFill>
          <a:ln/>
        </p:spPr>
      </p:sp>
      <p:pic>
        <p:nvPicPr>
          <p:cNvPr id="26"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4997" y="3562580"/>
            <a:ext cx="194305" cy="194305"/>
          </a:xfrm>
          <a:prstGeom prst="rect">
            <a:avLst/>
          </a:prstGeom>
        </p:spPr>
      </p:pic>
      <p:sp>
        <p:nvSpPr>
          <p:cNvPr id="27" name="Shape 17"/>
          <p:cNvSpPr/>
          <p:nvPr/>
        </p:nvSpPr>
        <p:spPr>
          <a:xfrm>
            <a:off x="680068" y="4476481"/>
            <a:ext cx="364322" cy="364322"/>
          </a:xfrm>
          <a:prstGeom prst="ellipse">
            <a:avLst/>
          </a:prstGeom>
          <a:solidFill>
            <a:srgbClr val="E3A087">
              <a:alpha val="12000"/>
            </a:srgbClr>
          </a:solidFill>
          <a:ln/>
        </p:spPr>
      </p:sp>
      <p:pic>
        <p:nvPicPr>
          <p:cNvPr id="28"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4997" y="4561410"/>
            <a:ext cx="194305" cy="194305"/>
          </a:xfrm>
          <a:prstGeom prst="rect">
            <a:avLst/>
          </a:prstGeom>
        </p:spPr>
      </p:pic>
      <p:sp>
        <p:nvSpPr>
          <p:cNvPr id="29" name="Shape 18"/>
          <p:cNvSpPr/>
          <p:nvPr/>
        </p:nvSpPr>
        <p:spPr>
          <a:xfrm>
            <a:off x="680068" y="5475311"/>
            <a:ext cx="364322" cy="364322"/>
          </a:xfrm>
          <a:prstGeom prst="ellipse">
            <a:avLst/>
          </a:prstGeom>
          <a:solidFill>
            <a:srgbClr val="E3A087">
              <a:alpha val="12000"/>
            </a:srgbClr>
          </a:solidFill>
          <a:ln/>
        </p:spPr>
      </p:sp>
      <p:pic>
        <p:nvPicPr>
          <p:cNvPr id="30" name="Image 9"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4997" y="5560239"/>
            <a:ext cx="194305" cy="194305"/>
          </a:xfrm>
          <a:prstGeom prst="rect">
            <a:avLst/>
          </a:prstGeom>
        </p:spPr>
      </p:pic>
      <p:pic>
        <p:nvPicPr>
          <p:cNvPr id="32" name="Image 10" descr="preencoded.png"/>
          <p:cNvPicPr>
            <a:picLocks noChangeAspect="1"/>
          </p:cNvPicPr>
          <p:nvPr/>
        </p:nvPicPr>
        <p:blipFill>
          <a:blip r:embed="rId11"/>
          <a:srcRect/>
          <a:stretch/>
        </p:blipFill>
        <p:spPr>
          <a:xfrm>
            <a:off x="7213419" y="0"/>
            <a:ext cx="4932556" cy="6812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10450093" y="6553036"/>
            <a:ext cx="1665405" cy="228594"/>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599425" y="2505012"/>
            <a:ext cx="3552101" cy="253992"/>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Farmers Gain Market Insights
</a:t>
            </a:r>
            <a:endParaRPr lang="en-US" sz="1400" dirty="0"/>
          </a:p>
        </p:txBody>
      </p:sp>
      <p:sp>
        <p:nvSpPr>
          <p:cNvPr id="9" name="Text 2"/>
          <p:cNvSpPr/>
          <p:nvPr/>
        </p:nvSpPr>
        <p:spPr>
          <a:xfrm>
            <a:off x="599425" y="2809805"/>
            <a:ext cx="3552101" cy="773411"/>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Farmers can track market prices and MSP conditions effectively, enhancing profitability.
</a:t>
            </a:r>
            <a:endParaRPr lang="en-US" sz="1300" dirty="0"/>
          </a:p>
        </p:txBody>
      </p:sp>
      <p:sp>
        <p:nvSpPr>
          <p:cNvPr id="10" name="Text 3"/>
          <p:cNvSpPr/>
          <p:nvPr/>
        </p:nvSpPr>
        <p:spPr>
          <a:xfrm>
            <a:off x="4771270" y="2505012"/>
            <a:ext cx="3552101" cy="253992"/>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Supply Chain Efficiency
</a:t>
            </a:r>
            <a:endParaRPr lang="en-US" sz="1400" dirty="0"/>
          </a:p>
        </p:txBody>
      </p:sp>
      <p:sp>
        <p:nvSpPr>
          <p:cNvPr id="11" name="Text 4"/>
          <p:cNvSpPr/>
          <p:nvPr/>
        </p:nvSpPr>
        <p:spPr>
          <a:xfrm>
            <a:off x="4771270" y="2809805"/>
            <a:ext cx="3552101" cy="773411"/>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Operators can quickly identify transport delays, improving logistics management and response times.
</a:t>
            </a:r>
            <a:endParaRPr lang="en-US" sz="1300" dirty="0"/>
          </a:p>
        </p:txBody>
      </p:sp>
      <p:sp>
        <p:nvSpPr>
          <p:cNvPr id="12" name="Text 5"/>
          <p:cNvSpPr/>
          <p:nvPr/>
        </p:nvSpPr>
        <p:spPr>
          <a:xfrm>
            <a:off x="599425" y="4411235"/>
            <a:ext cx="7723947" cy="253992"/>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Rapid Data-Driven Decisions
</a:t>
            </a:r>
            <a:endParaRPr lang="en-US" sz="1400" dirty="0"/>
          </a:p>
        </p:txBody>
      </p:sp>
      <p:sp>
        <p:nvSpPr>
          <p:cNvPr id="13" name="Text 6"/>
          <p:cNvSpPr/>
          <p:nvPr/>
        </p:nvSpPr>
        <p:spPr>
          <a:xfrm>
            <a:off x="599425" y="4716027"/>
            <a:ext cx="7723947" cy="515604"/>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Analysts receive immediate, data-grounded answers, streamlining decision-making processes significantly.
</a:t>
            </a:r>
            <a:endParaRPr lang="en-US" sz="1300" dirty="0"/>
          </a:p>
        </p:txBody>
      </p:sp>
      <p:sp>
        <p:nvSpPr>
          <p:cNvPr id="14" name="Text 7"/>
          <p:cNvSpPr/>
          <p:nvPr/>
        </p:nvSpPr>
        <p:spPr>
          <a:xfrm>
            <a:off x="10526291" y="6578432"/>
            <a:ext cx="1513009" cy="177798"/>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Georgia" pitchFamily="34" charset="0"/>
                <a:ea typeface="Georgia" pitchFamily="34" charset="-122"/>
                <a:cs typeface="Georgia" pitchFamily="34" charset="-120"/>
              </a:rPr>
              <a:t>Photo by Tim Mossholder
</a:t>
            </a:r>
            <a:endParaRPr lang="en-US" sz="900" dirty="0"/>
          </a:p>
        </p:txBody>
      </p:sp>
      <p:sp>
        <p:nvSpPr>
          <p:cNvPr id="15" name="Text 8"/>
          <p:cNvSpPr/>
          <p:nvPr/>
        </p:nvSpPr>
        <p:spPr>
          <a:xfrm>
            <a:off x="577835" y="1468083"/>
            <a:ext cx="8140496"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F9DAC1"/>
                </a:solidFill>
                <a:latin typeface="Georgia" pitchFamily="34" charset="0"/>
                <a:ea typeface="Georgia" pitchFamily="34" charset="-122"/>
                <a:cs typeface="Georgia" pitchFamily="34" charset="-120"/>
              </a:rPr>
              <a:t>Impact and Benefits
</a:t>
            </a:r>
            <a:endParaRPr lang="en-US" sz="230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265" y="2190057"/>
            <a:ext cx="228594" cy="228594"/>
          </a:xfrm>
          <a:prstGeom prst="rect">
            <a:avLst/>
          </a:prstGeom>
        </p:spPr>
      </p:pic>
      <p:pic>
        <p:nvPicPr>
          <p:cNvPr id="17"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61110" y="2190057"/>
            <a:ext cx="228594" cy="228594"/>
          </a:xfrm>
          <a:prstGeom prst="rect">
            <a:avLst/>
          </a:prstGeom>
        </p:spPr>
      </p:pic>
      <p:pic>
        <p:nvPicPr>
          <p:cNvPr id="18"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9265" y="4096280"/>
            <a:ext cx="228594" cy="228594"/>
          </a:xfrm>
          <a:prstGeom prst="rect">
            <a:avLst/>
          </a:prstGeom>
        </p:spPr>
      </p:pic>
      <p:pic>
        <p:nvPicPr>
          <p:cNvPr id="19" name="Image 8" descr="preencoded.png"/>
          <p:cNvPicPr>
            <a:picLocks noChangeAspect="1"/>
          </p:cNvPicPr>
          <p:nvPr/>
        </p:nvPicPr>
        <p:blipFill>
          <a:blip r:embed="rId9"/>
          <a:srcRect/>
          <a:stretch/>
        </p:blipFill>
        <p:spPr>
          <a:xfrm>
            <a:off x="8775480" y="0"/>
            <a:ext cx="3370495" cy="6812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444889" y="1904952"/>
            <a:ext cx="5079873" cy="4907328"/>
          </a:xfrm>
          <a:prstGeom prst="rect">
            <a:avLst/>
          </a:prstGeom>
        </p:spPr>
      </p:pic>
      <p:sp>
        <p:nvSpPr>
          <p:cNvPr id="3" name="Shape 0"/>
          <p:cNvSpPr/>
          <p:nvPr/>
        </p:nvSpPr>
        <p:spPr>
          <a:xfrm>
            <a:off x="1346166" y="2409132"/>
            <a:ext cx="2963153" cy="2522157"/>
          </a:xfrm>
          <a:prstGeom prst="roundRect">
            <a:avLst>
              <a:gd name="adj" fmla="val 8056"/>
            </a:avLst>
          </a:prstGeom>
          <a:solidFill>
            <a:srgbClr val="E3A087">
              <a:alpha val="5000"/>
            </a:srgbClr>
          </a:solidFill>
          <a:ln w="10160">
            <a:solidFill>
              <a:srgbClr val="E3A087">
                <a:alpha val="15000"/>
              </a:srgbClr>
            </a:solidFill>
            <a:prstDash val="solid"/>
          </a:ln>
        </p:spPr>
      </p:sp>
      <p:sp>
        <p:nvSpPr>
          <p:cNvPr id="4" name="Shape 1"/>
          <p:cNvSpPr/>
          <p:nvPr/>
        </p:nvSpPr>
        <p:spPr>
          <a:xfrm>
            <a:off x="4614112" y="2409132"/>
            <a:ext cx="2963312" cy="2522157"/>
          </a:xfrm>
          <a:prstGeom prst="roundRect">
            <a:avLst>
              <a:gd name="adj" fmla="val 8056"/>
            </a:avLst>
          </a:prstGeom>
          <a:solidFill>
            <a:srgbClr val="8B5CF6">
              <a:alpha val="5000"/>
            </a:srgbClr>
          </a:solidFill>
          <a:ln w="10160">
            <a:solidFill>
              <a:srgbClr val="8B5CF6">
                <a:alpha val="15000"/>
              </a:srgbClr>
            </a:solidFill>
            <a:prstDash val="solid"/>
          </a:ln>
        </p:spPr>
      </p:sp>
      <p:sp>
        <p:nvSpPr>
          <p:cNvPr id="5" name="Shape 2"/>
          <p:cNvSpPr/>
          <p:nvPr/>
        </p:nvSpPr>
        <p:spPr>
          <a:xfrm>
            <a:off x="7882217" y="2409132"/>
            <a:ext cx="2963312" cy="2522157"/>
          </a:xfrm>
          <a:prstGeom prst="roundRect">
            <a:avLst>
              <a:gd name="adj" fmla="val 8056"/>
            </a:avLst>
          </a:prstGeom>
          <a:solidFill>
            <a:srgbClr val="E3A087">
              <a:alpha val="5000"/>
            </a:srgbClr>
          </a:solidFill>
          <a:ln w="10160">
            <a:solidFill>
              <a:srgbClr val="E3A087">
                <a:alpha val="15000"/>
              </a:srgbClr>
            </a:solidFill>
            <a:prstDash val="solid"/>
          </a:ln>
        </p:spPr>
      </p:sp>
      <p:pic>
        <p:nvPicPr>
          <p:cNvPr id="6" name="Image 1" descr="preencoded.png"/>
          <p:cNvPicPr>
            <a:picLocks noChangeAspect="1"/>
          </p:cNvPicPr>
          <p:nvPr/>
        </p:nvPicPr>
        <p:blipFill>
          <a:blip r:embed="rId4"/>
          <a:stretch>
            <a:fillRect/>
          </a:stretch>
        </p:blipFill>
        <p:spPr>
          <a:xfrm>
            <a:off x="10413740" y="5333867"/>
            <a:ext cx="1650959" cy="1396965"/>
          </a:xfrm>
          <a:prstGeom prst="rect">
            <a:avLst/>
          </a:prstGeom>
        </p:spPr>
      </p:pic>
      <p:sp>
        <p:nvSpPr>
          <p:cNvPr id="10" name="Text 3"/>
          <p:cNvSpPr/>
          <p:nvPr/>
        </p:nvSpPr>
        <p:spPr>
          <a:xfrm>
            <a:off x="1346166" y="967711"/>
            <a:ext cx="10667733" cy="698483"/>
          </a:xfrm>
          <a:prstGeom prst="rect">
            <a:avLst/>
          </a:prstGeom>
          <a:noFill/>
          <a:ln/>
        </p:spPr>
        <p:txBody>
          <a:bodyPr wrap="square" lIns="1016" tIns="1016" rIns="1016" bIns="1016" rtlCol="0" anchor="t"/>
          <a:lstStyle/>
          <a:p>
            <a:pPr marL="0" indent="0" algn="l">
              <a:lnSpc>
                <a:spcPct val="130000"/>
              </a:lnSpc>
              <a:buNone/>
            </a:pPr>
            <a:r>
              <a:rPr lang="en-US" sz="2900" b="1" dirty="0">
                <a:solidFill>
                  <a:srgbClr val="F9DAC1"/>
                </a:solidFill>
                <a:latin typeface="Georgia" pitchFamily="34" charset="0"/>
                <a:ea typeface="Georgia" pitchFamily="34" charset="-122"/>
                <a:cs typeface="Georgia" pitchFamily="34" charset="-120"/>
              </a:rPr>
              <a:t>Transformative Impact of AgentIQ
</a:t>
            </a:r>
            <a:endParaRPr lang="en-US" sz="2900" dirty="0"/>
          </a:p>
        </p:txBody>
      </p:sp>
      <p:sp>
        <p:nvSpPr>
          <p:cNvPr id="11" name="Text 4"/>
          <p:cNvSpPr/>
          <p:nvPr/>
        </p:nvSpPr>
        <p:spPr>
          <a:xfrm>
            <a:off x="2107671" y="2647884"/>
            <a:ext cx="1440144" cy="754361"/>
          </a:xfrm>
          <a:prstGeom prst="rect">
            <a:avLst/>
          </a:prstGeom>
          <a:noFill/>
          <a:ln/>
        </p:spPr>
        <p:txBody>
          <a:bodyPr wrap="square" lIns="1016" tIns="1016" rIns="1016" bIns="1016" rtlCol="0" anchor="t"/>
          <a:lstStyle/>
          <a:p>
            <a:pPr marL="0" indent="0" algn="ctr">
              <a:lnSpc>
                <a:spcPct val="110000"/>
              </a:lnSpc>
              <a:buNone/>
            </a:pPr>
            <a:r>
              <a:rPr lang="en-US" sz="4900" b="1" dirty="0">
                <a:solidFill>
                  <a:srgbClr val="E3A087"/>
                </a:solidFill>
                <a:latin typeface="Georgia" pitchFamily="34" charset="0"/>
                <a:ea typeface="Georgia" pitchFamily="34" charset="-122"/>
                <a:cs typeface="Georgia" pitchFamily="34" charset="-120"/>
              </a:rPr>
              <a:t>30%
</a:t>
            </a:r>
            <a:endParaRPr lang="en-US" sz="4900" dirty="0"/>
          </a:p>
        </p:txBody>
      </p:sp>
      <p:sp>
        <p:nvSpPr>
          <p:cNvPr id="12" name="Text 5"/>
          <p:cNvSpPr/>
          <p:nvPr/>
        </p:nvSpPr>
        <p:spPr>
          <a:xfrm>
            <a:off x="1534122" y="3503842"/>
            <a:ext cx="2587243" cy="571486"/>
          </a:xfrm>
          <a:prstGeom prst="rect">
            <a:avLst/>
          </a:prstGeom>
          <a:noFill/>
          <a:ln/>
        </p:spPr>
        <p:txBody>
          <a:bodyPr wrap="square" lIns="1016" tIns="1016" rIns="1016" bIns="1016" rtlCol="0" anchor="t"/>
          <a:lstStyle/>
          <a:p>
            <a:pPr marL="0" indent="0" algn="ctr">
              <a:lnSpc>
                <a:spcPct val="125000"/>
              </a:lnSpc>
              <a:buNone/>
            </a:pPr>
            <a:r>
              <a:rPr lang="en-US" sz="1600" b="1" dirty="0">
                <a:solidFill>
                  <a:srgbClr val="F9DAC1"/>
                </a:solidFill>
                <a:latin typeface="Georgia" pitchFamily="34" charset="0"/>
                <a:ea typeface="Georgia" pitchFamily="34" charset="-122"/>
                <a:cs typeface="Georgia" pitchFamily="34" charset="-120"/>
              </a:rPr>
              <a:t>Reduction in Data Exploration Time
</a:t>
            </a:r>
            <a:endParaRPr lang="en-US" sz="1600" dirty="0"/>
          </a:p>
        </p:txBody>
      </p:sp>
      <p:sp>
        <p:nvSpPr>
          <p:cNvPr id="13" name="Text 6"/>
          <p:cNvSpPr/>
          <p:nvPr/>
        </p:nvSpPr>
        <p:spPr>
          <a:xfrm>
            <a:off x="1534122" y="4176927"/>
            <a:ext cx="2587243" cy="515604"/>
          </a:xfrm>
          <a:prstGeom prst="rect">
            <a:avLst/>
          </a:prstGeom>
          <a:noFill/>
          <a:ln/>
        </p:spPr>
        <p:txBody>
          <a:bodyPr wrap="square" lIns="1016" tIns="1016" rIns="1016" bIns="1016" rtlCol="0" anchor="t"/>
          <a:lstStyle/>
          <a:p>
            <a:pPr marL="0" indent="0" algn="ctr">
              <a:lnSpc>
                <a:spcPct val="145000"/>
              </a:lnSpc>
              <a:buNone/>
            </a:pPr>
            <a:r>
              <a:rPr lang="en-US" sz="1300" dirty="0">
                <a:solidFill>
                  <a:srgbClr val="C8B6A6"/>
                </a:solidFill>
                <a:latin typeface="Georgia" pitchFamily="34" charset="0"/>
                <a:ea typeface="Georgia" pitchFamily="34" charset="-122"/>
                <a:cs typeface="Georgia" pitchFamily="34" charset="-120"/>
              </a:rPr>
              <a:t>Streamlining access to critical insights
</a:t>
            </a:r>
            <a:endParaRPr lang="en-US" sz="1300" dirty="0"/>
          </a:p>
        </p:txBody>
      </p:sp>
      <p:sp>
        <p:nvSpPr>
          <p:cNvPr id="14" name="Text 7"/>
          <p:cNvSpPr/>
          <p:nvPr/>
        </p:nvSpPr>
        <p:spPr>
          <a:xfrm>
            <a:off x="5382443" y="2647884"/>
            <a:ext cx="1426492" cy="754361"/>
          </a:xfrm>
          <a:prstGeom prst="rect">
            <a:avLst/>
          </a:prstGeom>
          <a:noFill/>
          <a:ln/>
        </p:spPr>
        <p:txBody>
          <a:bodyPr wrap="square" lIns="1016" tIns="1016" rIns="1016" bIns="1016" rtlCol="0" anchor="t"/>
          <a:lstStyle/>
          <a:p>
            <a:pPr marL="0" indent="0" algn="ctr">
              <a:lnSpc>
                <a:spcPct val="110000"/>
              </a:lnSpc>
              <a:buNone/>
            </a:pPr>
            <a:r>
              <a:rPr lang="en-US" sz="4900" b="1" dirty="0">
                <a:solidFill>
                  <a:srgbClr val="8B5CF6"/>
                </a:solidFill>
                <a:latin typeface="Georgia" pitchFamily="34" charset="0"/>
                <a:ea typeface="Georgia" pitchFamily="34" charset="-122"/>
                <a:cs typeface="Georgia" pitchFamily="34" charset="-120"/>
              </a:rPr>
              <a:t>50%
</a:t>
            </a:r>
            <a:endParaRPr lang="en-US" sz="4900" dirty="0"/>
          </a:p>
        </p:txBody>
      </p:sp>
      <p:sp>
        <p:nvSpPr>
          <p:cNvPr id="15" name="Text 8"/>
          <p:cNvSpPr/>
          <p:nvPr/>
        </p:nvSpPr>
        <p:spPr>
          <a:xfrm>
            <a:off x="4802067" y="3503842"/>
            <a:ext cx="2587402" cy="571486"/>
          </a:xfrm>
          <a:prstGeom prst="rect">
            <a:avLst/>
          </a:prstGeom>
          <a:noFill/>
          <a:ln/>
        </p:spPr>
        <p:txBody>
          <a:bodyPr wrap="square" lIns="1016" tIns="1016" rIns="1016" bIns="1016" rtlCol="0" anchor="t"/>
          <a:lstStyle/>
          <a:p>
            <a:pPr marL="0" indent="0" algn="ctr">
              <a:lnSpc>
                <a:spcPct val="125000"/>
              </a:lnSpc>
              <a:buNone/>
            </a:pPr>
            <a:r>
              <a:rPr lang="en-US" sz="1600" b="1" dirty="0">
                <a:solidFill>
                  <a:srgbClr val="F9DAC1"/>
                </a:solidFill>
                <a:latin typeface="Georgia" pitchFamily="34" charset="0"/>
                <a:ea typeface="Georgia" pitchFamily="34" charset="-122"/>
                <a:cs typeface="Georgia" pitchFamily="34" charset="-120"/>
              </a:rPr>
              <a:t>Increase in Decision-Making Speed
</a:t>
            </a:r>
            <a:endParaRPr lang="en-US" sz="1600" dirty="0"/>
          </a:p>
        </p:txBody>
      </p:sp>
      <p:sp>
        <p:nvSpPr>
          <p:cNvPr id="16" name="Text 9"/>
          <p:cNvSpPr/>
          <p:nvPr/>
        </p:nvSpPr>
        <p:spPr>
          <a:xfrm>
            <a:off x="4802067" y="4176927"/>
            <a:ext cx="2587402" cy="515604"/>
          </a:xfrm>
          <a:prstGeom prst="rect">
            <a:avLst/>
          </a:prstGeom>
          <a:noFill/>
          <a:ln/>
        </p:spPr>
        <p:txBody>
          <a:bodyPr wrap="square" lIns="1016" tIns="1016" rIns="1016" bIns="1016" rtlCol="0" anchor="t"/>
          <a:lstStyle/>
          <a:p>
            <a:pPr marL="0" indent="0" algn="ctr">
              <a:lnSpc>
                <a:spcPct val="145000"/>
              </a:lnSpc>
              <a:buNone/>
            </a:pPr>
            <a:r>
              <a:rPr lang="en-US" sz="1300" dirty="0">
                <a:solidFill>
                  <a:srgbClr val="C8B6A6"/>
                </a:solidFill>
                <a:latin typeface="Georgia" pitchFamily="34" charset="0"/>
                <a:ea typeface="Georgia" pitchFamily="34" charset="-122"/>
                <a:cs typeface="Georgia" pitchFamily="34" charset="-120"/>
              </a:rPr>
              <a:t>Empowering faster, data-driven choices
</a:t>
            </a:r>
            <a:endParaRPr lang="en-US" sz="1300" dirty="0"/>
          </a:p>
        </p:txBody>
      </p:sp>
      <p:sp>
        <p:nvSpPr>
          <p:cNvPr id="17" name="Text 10"/>
          <p:cNvSpPr/>
          <p:nvPr/>
        </p:nvSpPr>
        <p:spPr>
          <a:xfrm>
            <a:off x="8478467" y="2647884"/>
            <a:ext cx="1770812" cy="754361"/>
          </a:xfrm>
          <a:prstGeom prst="rect">
            <a:avLst/>
          </a:prstGeom>
          <a:noFill/>
          <a:ln/>
        </p:spPr>
        <p:txBody>
          <a:bodyPr wrap="square" lIns="1016" tIns="1016" rIns="1016" bIns="1016" rtlCol="0" anchor="t"/>
          <a:lstStyle/>
          <a:p>
            <a:pPr marL="0" indent="0" algn="ctr">
              <a:lnSpc>
                <a:spcPct val="110000"/>
              </a:lnSpc>
              <a:buNone/>
            </a:pPr>
            <a:r>
              <a:rPr lang="en-US" sz="4900" b="1" dirty="0">
                <a:solidFill>
                  <a:srgbClr val="E3A087"/>
                </a:solidFill>
                <a:latin typeface="Georgia" pitchFamily="34" charset="0"/>
                <a:ea typeface="Georgia" pitchFamily="34" charset="-122"/>
                <a:cs typeface="Georgia" pitchFamily="34" charset="-120"/>
              </a:rPr>
              <a:t>100%
</a:t>
            </a:r>
            <a:endParaRPr lang="en-US" sz="4900" dirty="0"/>
          </a:p>
        </p:txBody>
      </p:sp>
      <p:sp>
        <p:nvSpPr>
          <p:cNvPr id="18" name="Text 11"/>
          <p:cNvSpPr/>
          <p:nvPr/>
        </p:nvSpPr>
        <p:spPr>
          <a:xfrm>
            <a:off x="8070171" y="3503842"/>
            <a:ext cx="2587402" cy="571486"/>
          </a:xfrm>
          <a:prstGeom prst="rect">
            <a:avLst/>
          </a:prstGeom>
          <a:noFill/>
          <a:ln/>
        </p:spPr>
        <p:txBody>
          <a:bodyPr wrap="square" lIns="1016" tIns="1016" rIns="1016" bIns="1016" rtlCol="0" anchor="t"/>
          <a:lstStyle/>
          <a:p>
            <a:pPr marL="0" indent="0" algn="ctr">
              <a:lnSpc>
                <a:spcPct val="125000"/>
              </a:lnSpc>
              <a:buNone/>
            </a:pPr>
            <a:r>
              <a:rPr lang="en-US" sz="1600" b="1" dirty="0">
                <a:solidFill>
                  <a:srgbClr val="F9DAC1"/>
                </a:solidFill>
                <a:latin typeface="Georgia" pitchFamily="34" charset="0"/>
                <a:ea typeface="Georgia" pitchFamily="34" charset="-122"/>
                <a:cs typeface="Georgia" pitchFamily="34" charset="-120"/>
              </a:rPr>
              <a:t>Integration of Disparate Datasets
</a:t>
            </a:r>
            <a:endParaRPr lang="en-US" sz="1600" dirty="0"/>
          </a:p>
        </p:txBody>
      </p:sp>
      <p:sp>
        <p:nvSpPr>
          <p:cNvPr id="19" name="Text 12"/>
          <p:cNvSpPr/>
          <p:nvPr/>
        </p:nvSpPr>
        <p:spPr>
          <a:xfrm>
            <a:off x="8070171" y="4176927"/>
            <a:ext cx="2587402" cy="515604"/>
          </a:xfrm>
          <a:prstGeom prst="rect">
            <a:avLst/>
          </a:prstGeom>
          <a:noFill/>
          <a:ln/>
        </p:spPr>
        <p:txBody>
          <a:bodyPr wrap="square" lIns="1016" tIns="1016" rIns="1016" bIns="1016" rtlCol="0" anchor="t"/>
          <a:lstStyle/>
          <a:p>
            <a:pPr marL="0" indent="0" algn="ctr">
              <a:lnSpc>
                <a:spcPct val="145000"/>
              </a:lnSpc>
              <a:buNone/>
            </a:pPr>
            <a:r>
              <a:rPr lang="en-US" sz="1300" dirty="0">
                <a:solidFill>
                  <a:srgbClr val="C8B6A6"/>
                </a:solidFill>
                <a:latin typeface="Georgia" pitchFamily="34" charset="0"/>
                <a:ea typeface="Georgia" pitchFamily="34" charset="-122"/>
                <a:cs typeface="Georgia" pitchFamily="34" charset="-120"/>
              </a:rPr>
              <a:t>Creating a unified view of agricultural data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10370401" y="6553036"/>
            <a:ext cx="1745096" cy="228594"/>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599425" y="1938608"/>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Synthetic Dataset Limitations
</a:t>
            </a:r>
            <a:endParaRPr lang="en-US" sz="1400" dirty="0"/>
          </a:p>
        </p:txBody>
      </p:sp>
      <p:sp>
        <p:nvSpPr>
          <p:cNvPr id="9" name="Text 2"/>
          <p:cNvSpPr/>
          <p:nvPr/>
        </p:nvSpPr>
        <p:spPr>
          <a:xfrm>
            <a:off x="599425" y="2243400"/>
            <a:ext cx="3552101" cy="515613"/>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Current dataset is synthetic and lacks real-time data integration.
</a:t>
            </a:r>
            <a:endParaRPr lang="en-US" sz="1300" dirty="0"/>
          </a:p>
        </p:txBody>
      </p:sp>
      <p:sp>
        <p:nvSpPr>
          <p:cNvPr id="10" name="Text 3"/>
          <p:cNvSpPr/>
          <p:nvPr/>
        </p:nvSpPr>
        <p:spPr>
          <a:xfrm>
            <a:off x="4771270" y="1938608"/>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Weather Integration Gaps
</a:t>
            </a:r>
            <a:endParaRPr lang="en-US" sz="1400" dirty="0"/>
          </a:p>
        </p:txBody>
      </p:sp>
      <p:sp>
        <p:nvSpPr>
          <p:cNvPr id="11" name="Text 4"/>
          <p:cNvSpPr/>
          <p:nvPr/>
        </p:nvSpPr>
        <p:spPr>
          <a:xfrm>
            <a:off x="4771270" y="2243400"/>
            <a:ext cx="3552101" cy="515613"/>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Weather data is not yet linked to individual mandis for accurate forecasting.
</a:t>
            </a:r>
            <a:endParaRPr lang="en-US" sz="1300" dirty="0"/>
          </a:p>
        </p:txBody>
      </p:sp>
      <p:sp>
        <p:nvSpPr>
          <p:cNvPr id="12" name="Text 5"/>
          <p:cNvSpPr/>
          <p:nvPr/>
        </p:nvSpPr>
        <p:spPr>
          <a:xfrm>
            <a:off x="599425" y="3587030"/>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Persistent Missing Values
</a:t>
            </a:r>
            <a:endParaRPr lang="en-US" sz="1400" dirty="0"/>
          </a:p>
        </p:txBody>
      </p:sp>
      <p:sp>
        <p:nvSpPr>
          <p:cNvPr id="13" name="Text 6"/>
          <p:cNvSpPr/>
          <p:nvPr/>
        </p:nvSpPr>
        <p:spPr>
          <a:xfrm>
            <a:off x="599425" y="3891822"/>
            <a:ext cx="3552101" cy="515604"/>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Despite cleaning efforts, some missing values still affect data reliability.
</a:t>
            </a:r>
            <a:endParaRPr lang="en-US" sz="1300" dirty="0"/>
          </a:p>
        </p:txBody>
      </p:sp>
      <p:sp>
        <p:nvSpPr>
          <p:cNvPr id="14" name="Text 7"/>
          <p:cNvSpPr/>
          <p:nvPr/>
        </p:nvSpPr>
        <p:spPr>
          <a:xfrm>
            <a:off x="4771270" y="3587030"/>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AI Response Dependency
</a:t>
            </a:r>
            <a:endParaRPr lang="en-US" sz="1400" dirty="0"/>
          </a:p>
        </p:txBody>
      </p:sp>
      <p:sp>
        <p:nvSpPr>
          <p:cNvPr id="15" name="Text 8"/>
          <p:cNvSpPr/>
          <p:nvPr/>
        </p:nvSpPr>
        <p:spPr>
          <a:xfrm>
            <a:off x="4771270" y="3891822"/>
            <a:ext cx="3552101" cy="515604"/>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AI-generated answers rely heavily on the quality of available datasets.
</a:t>
            </a:r>
            <a:endParaRPr lang="en-US" sz="1300" dirty="0"/>
          </a:p>
        </p:txBody>
      </p:sp>
      <p:sp>
        <p:nvSpPr>
          <p:cNvPr id="16" name="Text 9"/>
          <p:cNvSpPr/>
          <p:nvPr/>
        </p:nvSpPr>
        <p:spPr>
          <a:xfrm>
            <a:off x="599425" y="5235451"/>
            <a:ext cx="7723947" cy="253988"/>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No Live Price Feeds
</a:t>
            </a:r>
            <a:endParaRPr lang="en-US" sz="1400" dirty="0"/>
          </a:p>
        </p:txBody>
      </p:sp>
      <p:sp>
        <p:nvSpPr>
          <p:cNvPr id="17" name="Text 10"/>
          <p:cNvSpPr/>
          <p:nvPr/>
        </p:nvSpPr>
        <p:spPr>
          <a:xfrm>
            <a:off x="599425" y="5540244"/>
            <a:ext cx="7723947" cy="257798"/>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Absence of live mandi-price feeds limits real-time market analysis capabilities.
</a:t>
            </a:r>
            <a:endParaRPr lang="en-US" sz="1300" dirty="0"/>
          </a:p>
        </p:txBody>
      </p:sp>
      <p:sp>
        <p:nvSpPr>
          <p:cNvPr id="18" name="Text 11"/>
          <p:cNvSpPr/>
          <p:nvPr/>
        </p:nvSpPr>
        <p:spPr>
          <a:xfrm>
            <a:off x="10446599" y="6578443"/>
            <a:ext cx="1592700" cy="177790"/>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Georgia" pitchFamily="34" charset="0"/>
                <a:ea typeface="Georgia" pitchFamily="34" charset="-122"/>
                <a:cs typeface="Georgia" pitchFamily="34" charset="-120"/>
              </a:rPr>
              <a:t>Photo by Marios Gkortsilas
</a:t>
            </a:r>
            <a:endParaRPr lang="en-US" sz="900" dirty="0"/>
          </a:p>
        </p:txBody>
      </p:sp>
      <p:sp>
        <p:nvSpPr>
          <p:cNvPr id="19" name="Text 12"/>
          <p:cNvSpPr/>
          <p:nvPr/>
        </p:nvSpPr>
        <p:spPr>
          <a:xfrm>
            <a:off x="577835" y="887073"/>
            <a:ext cx="8140496"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F9DAC1"/>
                </a:solidFill>
                <a:latin typeface="Georgia" pitchFamily="34" charset="0"/>
                <a:ea typeface="Georgia" pitchFamily="34" charset="-122"/>
                <a:cs typeface="Georgia" pitchFamily="34" charset="-120"/>
              </a:rPr>
              <a:t>Limitations
</a:t>
            </a:r>
            <a:endParaRPr lang="en-US" sz="230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265" y="1623658"/>
            <a:ext cx="228594" cy="228594"/>
          </a:xfrm>
          <a:prstGeom prst="rect">
            <a:avLst/>
          </a:prstGeom>
        </p:spPr>
      </p:pic>
      <p:pic>
        <p:nvPicPr>
          <p:cNvPr id="21"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61110" y="1623658"/>
            <a:ext cx="228594" cy="228594"/>
          </a:xfrm>
          <a:prstGeom prst="rect">
            <a:avLst/>
          </a:prstGeom>
        </p:spPr>
      </p:pic>
      <p:pic>
        <p:nvPicPr>
          <p:cNvPr id="22"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9265" y="3272075"/>
            <a:ext cx="228594" cy="228594"/>
          </a:xfrm>
          <a:prstGeom prst="rect">
            <a:avLst/>
          </a:prstGeom>
        </p:spPr>
      </p:pic>
      <p:pic>
        <p:nvPicPr>
          <p:cNvPr id="23"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61110" y="3272075"/>
            <a:ext cx="228594" cy="228594"/>
          </a:xfrm>
          <a:prstGeom prst="rect">
            <a:avLst/>
          </a:prstGeom>
        </p:spPr>
      </p:pic>
      <p:pic>
        <p:nvPicPr>
          <p:cNvPr id="24" name="Image 9"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89265" y="4920496"/>
            <a:ext cx="228594" cy="228594"/>
          </a:xfrm>
          <a:prstGeom prst="rect">
            <a:avLst/>
          </a:prstGeom>
        </p:spPr>
      </p:pic>
      <p:pic>
        <p:nvPicPr>
          <p:cNvPr id="25" name="Image 10" descr="preencoded.png"/>
          <p:cNvPicPr>
            <a:picLocks noChangeAspect="1"/>
          </p:cNvPicPr>
          <p:nvPr/>
        </p:nvPicPr>
        <p:blipFill>
          <a:blip r:embed="rId11"/>
          <a:srcRect/>
          <a:stretch/>
        </p:blipFill>
        <p:spPr>
          <a:xfrm>
            <a:off x="8775480" y="0"/>
            <a:ext cx="3370495" cy="6812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B32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sp>
        <p:nvSpPr>
          <p:cNvPr id="3" name="Shape 0"/>
          <p:cNvSpPr/>
          <p:nvPr/>
        </p:nvSpPr>
        <p:spPr>
          <a:xfrm>
            <a:off x="10494700" y="6553036"/>
            <a:ext cx="1620798" cy="228594"/>
          </a:xfrm>
          <a:prstGeom prst="rect">
            <a:avLst/>
          </a:prstGeom>
          <a:solidFill>
            <a:srgbClr val="000000">
              <a:alpha val="60000"/>
            </a:srgbClr>
          </a:solidFill>
          <a:ln/>
        </p:spPr>
      </p:sp>
      <p:pic>
        <p:nvPicPr>
          <p:cNvPr id="4" name="Image 1"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3" descr="preencoded.png"/>
          <p:cNvPicPr>
            <a:picLocks noChangeAspect="1"/>
          </p:cNvPicPr>
          <p:nvPr/>
        </p:nvPicPr>
        <p:blipFill>
          <a:blip r:embed="rId5"/>
          <a:stretch>
            <a:fillRect/>
          </a:stretch>
        </p:blipFill>
        <p:spPr>
          <a:xfrm>
            <a:off x="10413740" y="6286343"/>
            <a:ext cx="1269968" cy="431789"/>
          </a:xfrm>
          <a:prstGeom prst="rect">
            <a:avLst/>
          </a:prstGeom>
        </p:spPr>
      </p:pic>
      <p:sp>
        <p:nvSpPr>
          <p:cNvPr id="8" name="Text 1"/>
          <p:cNvSpPr/>
          <p:nvPr/>
        </p:nvSpPr>
        <p:spPr>
          <a:xfrm>
            <a:off x="599425" y="2633910"/>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Integrate Live Data Feeds
</a:t>
            </a:r>
            <a:endParaRPr lang="en-US" sz="1400" dirty="0"/>
          </a:p>
        </p:txBody>
      </p:sp>
      <p:sp>
        <p:nvSpPr>
          <p:cNvPr id="9" name="Text 2"/>
          <p:cNvSpPr/>
          <p:nvPr/>
        </p:nvSpPr>
        <p:spPr>
          <a:xfrm>
            <a:off x="599425" y="2938703"/>
            <a:ext cx="3552101" cy="515613"/>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Incorporate real-time mandi and market-price feeds for enhanced decision-making.
</a:t>
            </a:r>
            <a:endParaRPr lang="en-US" sz="1300" dirty="0"/>
          </a:p>
        </p:txBody>
      </p:sp>
      <p:sp>
        <p:nvSpPr>
          <p:cNvPr id="10" name="Text 3"/>
          <p:cNvSpPr/>
          <p:nvPr/>
        </p:nvSpPr>
        <p:spPr>
          <a:xfrm>
            <a:off x="4771270" y="2633910"/>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Real-Time Transport Tracking
</a:t>
            </a:r>
            <a:endParaRPr lang="en-US" sz="1400" dirty="0"/>
          </a:p>
        </p:txBody>
      </p:sp>
      <p:sp>
        <p:nvSpPr>
          <p:cNvPr id="11" name="Text 4"/>
          <p:cNvSpPr/>
          <p:nvPr/>
        </p:nvSpPr>
        <p:spPr>
          <a:xfrm>
            <a:off x="4771270" y="2938703"/>
            <a:ext cx="3552101" cy="515613"/>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Implement GPS tracking to monitor transport logistics and improve efficiency.
</a:t>
            </a:r>
            <a:endParaRPr lang="en-US" sz="1300" dirty="0"/>
          </a:p>
        </p:txBody>
      </p:sp>
      <p:sp>
        <p:nvSpPr>
          <p:cNvPr id="12" name="Text 5"/>
          <p:cNvSpPr/>
          <p:nvPr/>
        </p:nvSpPr>
        <p:spPr>
          <a:xfrm>
            <a:off x="599425" y="4282332"/>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Expand Predictive Analytics
</a:t>
            </a:r>
            <a:endParaRPr lang="en-US" sz="1400" dirty="0"/>
          </a:p>
        </p:txBody>
      </p:sp>
      <p:sp>
        <p:nvSpPr>
          <p:cNvPr id="13" name="Text 6"/>
          <p:cNvSpPr/>
          <p:nvPr/>
        </p:nvSpPr>
        <p:spPr>
          <a:xfrm>
            <a:off x="599425" y="4587124"/>
            <a:ext cx="3552101" cy="515604"/>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Broaden predictive capabilities for arrivals and pricing to optimize supply chain.
</a:t>
            </a:r>
            <a:endParaRPr lang="en-US" sz="1300" dirty="0"/>
          </a:p>
        </p:txBody>
      </p:sp>
      <p:sp>
        <p:nvSpPr>
          <p:cNvPr id="14" name="Text 7"/>
          <p:cNvSpPr/>
          <p:nvPr/>
        </p:nvSpPr>
        <p:spPr>
          <a:xfrm>
            <a:off x="4771270" y="4282332"/>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F9DAC1"/>
                </a:solidFill>
                <a:latin typeface="Georgia" pitchFamily="34" charset="0"/>
                <a:ea typeface="Georgia" pitchFamily="34" charset="-122"/>
                <a:cs typeface="Georgia" pitchFamily="34" charset="-120"/>
              </a:rPr>
              <a:t>Wider Crop and Market Application
</a:t>
            </a:r>
            <a:endParaRPr lang="en-US" sz="1400" dirty="0"/>
          </a:p>
        </p:txBody>
      </p:sp>
      <p:sp>
        <p:nvSpPr>
          <p:cNvPr id="15" name="Text 8"/>
          <p:cNvSpPr/>
          <p:nvPr/>
        </p:nvSpPr>
        <p:spPr>
          <a:xfrm>
            <a:off x="4771270" y="4587124"/>
            <a:ext cx="3552101" cy="515604"/>
          </a:xfrm>
          <a:prstGeom prst="rect">
            <a:avLst/>
          </a:prstGeom>
          <a:noFill/>
          <a:ln/>
        </p:spPr>
        <p:txBody>
          <a:bodyPr wrap="square" lIns="1016" tIns="1016" rIns="1016" bIns="1016" rtlCol="0" anchor="t"/>
          <a:lstStyle/>
          <a:p>
            <a:pPr marL="0" indent="0">
              <a:lnSpc>
                <a:spcPct val="145000"/>
              </a:lnSpc>
              <a:buNone/>
            </a:pPr>
            <a:r>
              <a:rPr lang="en-US" sz="1300" dirty="0">
                <a:solidFill>
                  <a:srgbClr val="C8B6A6"/>
                </a:solidFill>
                <a:latin typeface="Georgia" pitchFamily="34" charset="0"/>
                <a:ea typeface="Georgia" pitchFamily="34" charset="-122"/>
                <a:cs typeface="Georgia" pitchFamily="34" charset="-120"/>
              </a:rPr>
              <a:t>Extend AgentIQ's functionality to additional crops and agricultural markets.
</a:t>
            </a:r>
            <a:endParaRPr lang="en-US" sz="1300" dirty="0"/>
          </a:p>
        </p:txBody>
      </p:sp>
      <p:sp>
        <p:nvSpPr>
          <p:cNvPr id="16" name="Text 9"/>
          <p:cNvSpPr/>
          <p:nvPr/>
        </p:nvSpPr>
        <p:spPr>
          <a:xfrm>
            <a:off x="10570898" y="6578437"/>
            <a:ext cx="1468402" cy="177790"/>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Georgia" pitchFamily="34" charset="0"/>
                <a:ea typeface="Georgia" pitchFamily="34" charset="-122"/>
                <a:cs typeface="Georgia" pitchFamily="34" charset="-120"/>
              </a:rPr>
              <a:t>Photo by Yulian Alexeyev
</a:t>
            </a:r>
            <a:endParaRPr lang="en-US" sz="900" dirty="0"/>
          </a:p>
        </p:txBody>
      </p:sp>
      <p:sp>
        <p:nvSpPr>
          <p:cNvPr id="17" name="Text 10"/>
          <p:cNvSpPr/>
          <p:nvPr/>
        </p:nvSpPr>
        <p:spPr>
          <a:xfrm>
            <a:off x="599425" y="1607779"/>
            <a:ext cx="8140496"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F9DAC1"/>
                </a:solidFill>
                <a:latin typeface="Georgia" pitchFamily="34" charset="0"/>
                <a:ea typeface="Georgia" pitchFamily="34" charset="-122"/>
                <a:cs typeface="Georgia" pitchFamily="34" charset="-120"/>
              </a:rPr>
              <a:t>Future Scope
</a:t>
            </a:r>
            <a:endParaRPr lang="en-US" sz="2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265" y="2318966"/>
            <a:ext cx="228594" cy="228594"/>
          </a:xfrm>
          <a:prstGeom prst="rect">
            <a:avLst/>
          </a:prstGeom>
        </p:spPr>
      </p:pic>
      <p:pic>
        <p:nvPicPr>
          <p:cNvPr id="19"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61110" y="2318966"/>
            <a:ext cx="228594" cy="228594"/>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9265" y="3967377"/>
            <a:ext cx="228594" cy="228594"/>
          </a:xfrm>
          <a:prstGeom prst="rect">
            <a:avLst/>
          </a:prstGeom>
        </p:spPr>
      </p:pic>
      <p:pic>
        <p:nvPicPr>
          <p:cNvPr id="21"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61110" y="3967377"/>
            <a:ext cx="228594" cy="228594"/>
          </a:xfrm>
          <a:prstGeom prst="rect">
            <a:avLst/>
          </a:prstGeom>
        </p:spPr>
      </p:pic>
      <p:pic>
        <p:nvPicPr>
          <p:cNvPr id="22" name="Image 9" descr="preencoded.png"/>
          <p:cNvPicPr>
            <a:picLocks noChangeAspect="1"/>
          </p:cNvPicPr>
          <p:nvPr/>
        </p:nvPicPr>
        <p:blipFill>
          <a:blip r:embed="rId10"/>
          <a:srcRect/>
          <a:stretch/>
        </p:blipFill>
        <p:spPr>
          <a:xfrm>
            <a:off x="8775480" y="0"/>
            <a:ext cx="3370495" cy="6812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B3232"/>
        </a:solidFill>
        <a:effectLst/>
      </p:bgPr>
    </p:bg>
    <p:spTree>
      <p:nvGrpSpPr>
        <p:cNvPr id="1" name=""/>
        <p:cNvGrpSpPr/>
        <p:nvPr/>
      </p:nvGrpSpPr>
      <p:grpSpPr>
        <a:xfrm>
          <a:off x="0" y="0"/>
          <a:ext cx="0" cy="0"/>
          <a:chOff x="0" y="0"/>
          <a:chExt cx="0" cy="0"/>
        </a:xfrm>
      </p:grpSpPr>
      <p:sp>
        <p:nvSpPr>
          <p:cNvPr id="2" name="Shape 0"/>
          <p:cNvSpPr/>
          <p:nvPr/>
        </p:nvSpPr>
        <p:spPr>
          <a:xfrm>
            <a:off x="761981" y="1409356"/>
            <a:ext cx="10667733" cy="1053592"/>
          </a:xfrm>
          <a:prstGeom prst="roundRect">
            <a:avLst>
              <a:gd name="adj" fmla="val 16875"/>
            </a:avLst>
          </a:prstGeom>
          <a:solidFill>
            <a:srgbClr val="000000">
              <a:alpha val="0"/>
            </a:srgbClr>
          </a:solidFill>
          <a:ln w="10160">
            <a:solidFill>
              <a:srgbClr val="F9DAC1">
                <a:alpha val="18000"/>
              </a:srgbClr>
            </a:solidFill>
            <a:prstDash val="solid"/>
          </a:ln>
        </p:spPr>
      </p:sp>
      <p:sp>
        <p:nvSpPr>
          <p:cNvPr id="3" name="Shape 1"/>
          <p:cNvSpPr/>
          <p:nvPr/>
        </p:nvSpPr>
        <p:spPr>
          <a:xfrm>
            <a:off x="761981" y="2616142"/>
            <a:ext cx="10667733" cy="1053592"/>
          </a:xfrm>
          <a:prstGeom prst="roundRect">
            <a:avLst>
              <a:gd name="adj" fmla="val 16875"/>
            </a:avLst>
          </a:prstGeom>
          <a:solidFill>
            <a:srgbClr val="000000">
              <a:alpha val="0"/>
            </a:srgbClr>
          </a:solidFill>
          <a:ln w="10160">
            <a:solidFill>
              <a:srgbClr val="F9DAC1">
                <a:alpha val="18000"/>
              </a:srgbClr>
            </a:solidFill>
            <a:prstDash val="solid"/>
          </a:ln>
        </p:spPr>
      </p:sp>
      <p:sp>
        <p:nvSpPr>
          <p:cNvPr id="4" name="Shape 2"/>
          <p:cNvSpPr/>
          <p:nvPr/>
        </p:nvSpPr>
        <p:spPr>
          <a:xfrm>
            <a:off x="761981" y="3822927"/>
            <a:ext cx="10667733" cy="1053592"/>
          </a:xfrm>
          <a:prstGeom prst="roundRect">
            <a:avLst>
              <a:gd name="adj" fmla="val 16875"/>
            </a:avLst>
          </a:prstGeom>
          <a:solidFill>
            <a:srgbClr val="000000">
              <a:alpha val="0"/>
            </a:srgbClr>
          </a:solidFill>
          <a:ln w="10160">
            <a:solidFill>
              <a:srgbClr val="F9DAC1">
                <a:alpha val="18000"/>
              </a:srgbClr>
            </a:solidFill>
            <a:prstDash val="solid"/>
          </a:ln>
        </p:spPr>
      </p:sp>
      <p:sp>
        <p:nvSpPr>
          <p:cNvPr id="5" name="Shape 3"/>
          <p:cNvSpPr/>
          <p:nvPr/>
        </p:nvSpPr>
        <p:spPr>
          <a:xfrm>
            <a:off x="761981" y="5029712"/>
            <a:ext cx="10667733" cy="1053592"/>
          </a:xfrm>
          <a:prstGeom prst="roundRect">
            <a:avLst>
              <a:gd name="adj" fmla="val 16875"/>
            </a:avLst>
          </a:prstGeom>
          <a:solidFill>
            <a:srgbClr val="000000">
              <a:alpha val="0"/>
            </a:srgbClr>
          </a:solidFill>
          <a:ln w="10160">
            <a:solidFill>
              <a:srgbClr val="F9DAC1">
                <a:alpha val="18000"/>
              </a:srgbClr>
            </a:solidFill>
            <a:prstDash val="solid"/>
          </a:ln>
        </p:spPr>
      </p:sp>
      <p:sp>
        <p:nvSpPr>
          <p:cNvPr id="7" name="Text 4"/>
          <p:cNvSpPr/>
          <p:nvPr/>
        </p:nvSpPr>
        <p:spPr>
          <a:xfrm>
            <a:off x="761981" y="317492"/>
            <a:ext cx="10667733" cy="698483"/>
          </a:xfrm>
          <a:prstGeom prst="rect">
            <a:avLst/>
          </a:prstGeom>
          <a:noFill/>
          <a:ln/>
        </p:spPr>
        <p:txBody>
          <a:bodyPr wrap="square" lIns="1016" tIns="1016" rIns="1016" bIns="1016" rtlCol="0" anchor="t"/>
          <a:lstStyle/>
          <a:p>
            <a:pPr marL="0" indent="0" algn="l">
              <a:lnSpc>
                <a:spcPct val="130000"/>
              </a:lnSpc>
              <a:buNone/>
            </a:pPr>
            <a:r>
              <a:rPr lang="en-US" sz="2900" b="1" dirty="0">
                <a:solidFill>
                  <a:srgbClr val="F9DAC1"/>
                </a:solidFill>
                <a:latin typeface="Georgia" pitchFamily="34" charset="0"/>
                <a:ea typeface="Georgia" pitchFamily="34" charset="-122"/>
                <a:cs typeface="Georgia" pitchFamily="34" charset="-120"/>
              </a:rPr>
              <a:t>Frequently Asked Questions
</a:t>
            </a:r>
            <a:endParaRPr lang="en-US" sz="2900" dirty="0"/>
          </a:p>
        </p:txBody>
      </p:sp>
      <p:sp>
        <p:nvSpPr>
          <p:cNvPr id="8" name="Text 5"/>
          <p:cNvSpPr/>
          <p:nvPr/>
        </p:nvSpPr>
        <p:spPr>
          <a:xfrm>
            <a:off x="1395060" y="1582854"/>
            <a:ext cx="9839238" cy="218755"/>
          </a:xfrm>
          <a:prstGeom prst="rect">
            <a:avLst/>
          </a:prstGeom>
          <a:noFill/>
          <a:ln/>
        </p:spPr>
        <p:txBody>
          <a:bodyPr wrap="square" lIns="1016" tIns="1016" rIns="1016" bIns="1016" rtlCol="0" anchor="t"/>
          <a:lstStyle/>
          <a:p>
            <a:pPr marL="0" indent="0">
              <a:lnSpc>
                <a:spcPct val="123126"/>
              </a:lnSpc>
              <a:buNone/>
            </a:pPr>
            <a:r>
              <a:rPr lang="en-US" sz="1300" b="1" dirty="0">
                <a:solidFill>
                  <a:srgbClr val="F9DAC1"/>
                </a:solidFill>
                <a:latin typeface="Georgia" pitchFamily="34" charset="0"/>
                <a:ea typeface="Georgia" pitchFamily="34" charset="-122"/>
                <a:cs typeface="Georgia" pitchFamily="34" charset="-120"/>
              </a:rPr>
              <a:t>What datasets are used in AgentIQ?
</a:t>
            </a:r>
            <a:endParaRPr lang="en-US" sz="1300" dirty="0"/>
          </a:p>
        </p:txBody>
      </p:sp>
      <p:sp>
        <p:nvSpPr>
          <p:cNvPr id="9" name="Text 6"/>
          <p:cNvSpPr/>
          <p:nvPr/>
        </p:nvSpPr>
        <p:spPr>
          <a:xfrm>
            <a:off x="1395060" y="1845263"/>
            <a:ext cx="9839238" cy="444177"/>
          </a:xfrm>
          <a:prstGeom prst="rect">
            <a:avLst/>
          </a:prstGeom>
          <a:noFill/>
          <a:ln/>
        </p:spPr>
        <p:txBody>
          <a:bodyPr wrap="square" lIns="1016" tIns="1016" rIns="1016" bIns="1016" rtlCol="0" anchor="t"/>
          <a:lstStyle/>
          <a:p>
            <a:pPr marL="0" indent="0">
              <a:lnSpc>
                <a:spcPct val="145802"/>
              </a:lnSpc>
              <a:buNone/>
            </a:pPr>
            <a:r>
              <a:rPr lang="en-US" sz="1100" dirty="0">
                <a:solidFill>
                  <a:srgbClr val="C8B6A6"/>
                </a:solidFill>
                <a:latin typeface="Georgia" pitchFamily="34" charset="0"/>
                <a:ea typeface="Georgia" pitchFamily="34" charset="-122"/>
                <a:cs typeface="Georgia" pitchFamily="34" charset="-120"/>
              </a:rPr>
              <a:t>AgentIQ utilizes five key agricultural datasets, including mandi arrivals, market prices, transport logistics, weather data, and mandi information, all cleaned and standardized for analysis.
</a:t>
            </a:r>
            <a:endParaRPr lang="en-US" sz="1100" dirty="0"/>
          </a:p>
        </p:txBody>
      </p:sp>
      <p:sp>
        <p:nvSpPr>
          <p:cNvPr id="10" name="Text 7"/>
          <p:cNvSpPr/>
          <p:nvPr/>
        </p:nvSpPr>
        <p:spPr>
          <a:xfrm>
            <a:off x="1395060" y="2789639"/>
            <a:ext cx="9839238" cy="218755"/>
          </a:xfrm>
          <a:prstGeom prst="rect">
            <a:avLst/>
          </a:prstGeom>
          <a:noFill/>
          <a:ln/>
        </p:spPr>
        <p:txBody>
          <a:bodyPr wrap="square" lIns="1016" tIns="1016" rIns="1016" bIns="1016" rtlCol="0" anchor="t"/>
          <a:lstStyle/>
          <a:p>
            <a:pPr marL="0" indent="0">
              <a:lnSpc>
                <a:spcPct val="123126"/>
              </a:lnSpc>
              <a:buNone/>
            </a:pPr>
            <a:r>
              <a:rPr lang="en-US" sz="1300" b="1" dirty="0">
                <a:solidFill>
                  <a:srgbClr val="F9DAC1"/>
                </a:solidFill>
                <a:latin typeface="Georgia" pitchFamily="34" charset="0"/>
                <a:ea typeface="Georgia" pitchFamily="34" charset="-122"/>
                <a:cs typeface="Georgia" pitchFamily="34" charset="-120"/>
              </a:rPr>
              <a:t>How does the AI agent improve usability?
</a:t>
            </a:r>
            <a:endParaRPr lang="en-US" sz="1300" dirty="0"/>
          </a:p>
        </p:txBody>
      </p:sp>
      <p:sp>
        <p:nvSpPr>
          <p:cNvPr id="11" name="Text 8"/>
          <p:cNvSpPr/>
          <p:nvPr/>
        </p:nvSpPr>
        <p:spPr>
          <a:xfrm>
            <a:off x="1395060" y="3052048"/>
            <a:ext cx="9839238" cy="444177"/>
          </a:xfrm>
          <a:prstGeom prst="rect">
            <a:avLst/>
          </a:prstGeom>
          <a:noFill/>
          <a:ln/>
        </p:spPr>
        <p:txBody>
          <a:bodyPr wrap="square" lIns="1016" tIns="1016" rIns="1016" bIns="1016" rtlCol="0" anchor="t"/>
          <a:lstStyle/>
          <a:p>
            <a:pPr marL="0" indent="0">
              <a:lnSpc>
                <a:spcPct val="145802"/>
              </a:lnSpc>
              <a:buNone/>
            </a:pPr>
            <a:r>
              <a:rPr lang="en-US" sz="1100" dirty="0">
                <a:solidFill>
                  <a:srgbClr val="C8B6A6"/>
                </a:solidFill>
                <a:latin typeface="Georgia" pitchFamily="34" charset="0"/>
                <a:ea typeface="Georgia" pitchFamily="34" charset="-122"/>
                <a:cs typeface="Georgia" pitchFamily="34" charset="-120"/>
              </a:rPr>
              <a:t>The AI agent allows users to ask questions in natural language, making it easier to access insights without needing to navigate complex dashboards manually.
</a:t>
            </a:r>
            <a:endParaRPr lang="en-US" sz="1100" dirty="0"/>
          </a:p>
        </p:txBody>
      </p:sp>
      <p:sp>
        <p:nvSpPr>
          <p:cNvPr id="12" name="Text 9"/>
          <p:cNvSpPr/>
          <p:nvPr/>
        </p:nvSpPr>
        <p:spPr>
          <a:xfrm>
            <a:off x="1395060" y="3996435"/>
            <a:ext cx="9839238" cy="218755"/>
          </a:xfrm>
          <a:prstGeom prst="rect">
            <a:avLst/>
          </a:prstGeom>
          <a:noFill/>
          <a:ln/>
        </p:spPr>
        <p:txBody>
          <a:bodyPr wrap="square" lIns="1016" tIns="1016" rIns="1016" bIns="1016" rtlCol="0" anchor="t"/>
          <a:lstStyle/>
          <a:p>
            <a:pPr marL="0" indent="0">
              <a:lnSpc>
                <a:spcPct val="123126"/>
              </a:lnSpc>
              <a:buNone/>
            </a:pPr>
            <a:r>
              <a:rPr lang="en-US" sz="1300" b="1" dirty="0">
                <a:solidFill>
                  <a:srgbClr val="F9DAC1"/>
                </a:solidFill>
                <a:latin typeface="Georgia" pitchFamily="34" charset="0"/>
                <a:ea typeface="Georgia" pitchFamily="34" charset="-122"/>
                <a:cs typeface="Georgia" pitchFamily="34" charset="-120"/>
              </a:rPr>
              <a:t>Can AgentIQ handle real-time updates?
</a:t>
            </a:r>
            <a:endParaRPr lang="en-US" sz="1300" dirty="0"/>
          </a:p>
        </p:txBody>
      </p:sp>
      <p:sp>
        <p:nvSpPr>
          <p:cNvPr id="13" name="Text 10"/>
          <p:cNvSpPr/>
          <p:nvPr/>
        </p:nvSpPr>
        <p:spPr>
          <a:xfrm>
            <a:off x="1395060" y="4258834"/>
            <a:ext cx="9839238" cy="444177"/>
          </a:xfrm>
          <a:prstGeom prst="rect">
            <a:avLst/>
          </a:prstGeom>
          <a:noFill/>
          <a:ln/>
        </p:spPr>
        <p:txBody>
          <a:bodyPr wrap="square" lIns="1016" tIns="1016" rIns="1016" bIns="1016" rtlCol="0" anchor="t"/>
          <a:lstStyle/>
          <a:p>
            <a:pPr marL="0" indent="0">
              <a:lnSpc>
                <a:spcPct val="145802"/>
              </a:lnSpc>
              <a:buNone/>
            </a:pPr>
            <a:r>
              <a:rPr lang="en-US" sz="1100" dirty="0">
                <a:solidFill>
                  <a:srgbClr val="C8B6A6"/>
                </a:solidFill>
                <a:latin typeface="Georgia" pitchFamily="34" charset="0"/>
                <a:ea typeface="Georgia" pitchFamily="34" charset="-122"/>
                <a:cs typeface="Georgia" pitchFamily="34" charset="-120"/>
              </a:rPr>
              <a:t>Currently, AgentIQ does not support live updates; however, future enhancements aim to integrate real-time mandi and market-price feeds.
</a:t>
            </a:r>
            <a:endParaRPr lang="en-US" sz="1100" dirty="0"/>
          </a:p>
        </p:txBody>
      </p:sp>
      <p:sp>
        <p:nvSpPr>
          <p:cNvPr id="14" name="Text 11"/>
          <p:cNvSpPr/>
          <p:nvPr/>
        </p:nvSpPr>
        <p:spPr>
          <a:xfrm>
            <a:off x="1395060" y="5203220"/>
            <a:ext cx="9839238" cy="218755"/>
          </a:xfrm>
          <a:prstGeom prst="rect">
            <a:avLst/>
          </a:prstGeom>
          <a:noFill/>
          <a:ln/>
        </p:spPr>
        <p:txBody>
          <a:bodyPr wrap="square" lIns="1016" tIns="1016" rIns="1016" bIns="1016" rtlCol="0" anchor="t"/>
          <a:lstStyle/>
          <a:p>
            <a:pPr marL="0" indent="0">
              <a:lnSpc>
                <a:spcPct val="123126"/>
              </a:lnSpc>
              <a:buNone/>
            </a:pPr>
            <a:r>
              <a:rPr lang="en-US" sz="1300" b="1" dirty="0">
                <a:solidFill>
                  <a:srgbClr val="F9DAC1"/>
                </a:solidFill>
                <a:latin typeface="Georgia" pitchFamily="34" charset="0"/>
                <a:ea typeface="Georgia" pitchFamily="34" charset="-122"/>
                <a:cs typeface="Georgia" pitchFamily="34" charset="-120"/>
              </a:rPr>
              <a:t>What technologies power AgentIQ?
</a:t>
            </a:r>
            <a:endParaRPr lang="en-US" sz="1300" dirty="0"/>
          </a:p>
        </p:txBody>
      </p:sp>
      <p:sp>
        <p:nvSpPr>
          <p:cNvPr id="15" name="Text 12"/>
          <p:cNvSpPr/>
          <p:nvPr/>
        </p:nvSpPr>
        <p:spPr>
          <a:xfrm>
            <a:off x="1395060" y="5465629"/>
            <a:ext cx="9839238" cy="444177"/>
          </a:xfrm>
          <a:prstGeom prst="rect">
            <a:avLst/>
          </a:prstGeom>
          <a:noFill/>
          <a:ln/>
        </p:spPr>
        <p:txBody>
          <a:bodyPr wrap="square" lIns="1016" tIns="1016" rIns="1016" bIns="1016" rtlCol="0" anchor="t"/>
          <a:lstStyle/>
          <a:p>
            <a:pPr marL="0" indent="0">
              <a:lnSpc>
                <a:spcPct val="145802"/>
              </a:lnSpc>
              <a:buNone/>
            </a:pPr>
            <a:r>
              <a:rPr lang="en-US" sz="1100" dirty="0">
                <a:solidFill>
                  <a:srgbClr val="C8B6A6"/>
                </a:solidFill>
                <a:latin typeface="Georgia" pitchFamily="34" charset="0"/>
                <a:ea typeface="Georgia" pitchFamily="34" charset="-122"/>
                <a:cs typeface="Georgia" pitchFamily="34" charset="-120"/>
              </a:rPr>
              <a:t>AgentIQ is built using a robust technology stack, including Python, FastAPI, Pandas, NumPy, React, and MongoDB, ensuring efficient data processing and user interaction.
</a:t>
            </a:r>
            <a:endParaRPr lang="en-US" sz="1100" dirty="0"/>
          </a:p>
        </p:txBody>
      </p:sp>
      <p:sp>
        <p:nvSpPr>
          <p:cNvPr id="16" name="Shape 13"/>
          <p:cNvSpPr/>
          <p:nvPr/>
        </p:nvSpPr>
        <p:spPr>
          <a:xfrm>
            <a:off x="947238" y="1598098"/>
            <a:ext cx="284473" cy="284476"/>
          </a:xfrm>
          <a:prstGeom prst="ellipse">
            <a:avLst/>
          </a:prstGeom>
          <a:solidFill>
            <a:srgbClr val="E3A087"/>
          </a:solidFill>
          <a:ln/>
        </p:spPr>
      </p:sp>
      <p:sp>
        <p:nvSpPr>
          <p:cNvPr id="17" name="Text 14"/>
          <p:cNvSpPr/>
          <p:nvPr/>
        </p:nvSpPr>
        <p:spPr>
          <a:xfrm>
            <a:off x="947238" y="1598098"/>
            <a:ext cx="284473" cy="284476"/>
          </a:xfrm>
          <a:prstGeom prst="rect">
            <a:avLst/>
          </a:prstGeom>
          <a:solidFill>
            <a:srgbClr val="E3A087"/>
          </a:solidFill>
          <a:ln/>
        </p:spPr>
        <p:txBody>
          <a:bodyPr wrap="square" lIns="0" tIns="0" rIns="0" bIns="0" rtlCol="0" anchor="t"/>
          <a:lstStyle/>
          <a:p>
            <a:pPr marL="0" indent="0" algn="ctr">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18" name="Shape 15"/>
          <p:cNvSpPr/>
          <p:nvPr/>
        </p:nvSpPr>
        <p:spPr>
          <a:xfrm>
            <a:off x="947238" y="2804883"/>
            <a:ext cx="284473" cy="284476"/>
          </a:xfrm>
          <a:prstGeom prst="ellipse">
            <a:avLst/>
          </a:prstGeom>
          <a:solidFill>
            <a:srgbClr val="E3A087"/>
          </a:solidFill>
          <a:ln/>
        </p:spPr>
      </p:sp>
      <p:sp>
        <p:nvSpPr>
          <p:cNvPr id="19" name="Text 16"/>
          <p:cNvSpPr/>
          <p:nvPr/>
        </p:nvSpPr>
        <p:spPr>
          <a:xfrm>
            <a:off x="947238" y="2804883"/>
            <a:ext cx="284473" cy="284476"/>
          </a:xfrm>
          <a:prstGeom prst="rect">
            <a:avLst/>
          </a:prstGeom>
          <a:solidFill>
            <a:srgbClr val="E3A087"/>
          </a:solidFill>
          <a:ln/>
        </p:spPr>
        <p:txBody>
          <a:bodyPr wrap="square" lIns="0" tIns="0" rIns="0" bIns="0" rtlCol="0" anchor="t"/>
          <a:lstStyle/>
          <a:p>
            <a:pPr marL="0" indent="0" algn="ctr">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20" name="Shape 17"/>
          <p:cNvSpPr/>
          <p:nvPr/>
        </p:nvSpPr>
        <p:spPr>
          <a:xfrm>
            <a:off x="947238" y="4011668"/>
            <a:ext cx="284473" cy="284476"/>
          </a:xfrm>
          <a:prstGeom prst="ellipse">
            <a:avLst/>
          </a:prstGeom>
          <a:solidFill>
            <a:srgbClr val="E3A087"/>
          </a:solidFill>
          <a:ln/>
        </p:spPr>
      </p:sp>
      <p:sp>
        <p:nvSpPr>
          <p:cNvPr id="21" name="Text 18"/>
          <p:cNvSpPr/>
          <p:nvPr/>
        </p:nvSpPr>
        <p:spPr>
          <a:xfrm>
            <a:off x="947238" y="4011668"/>
            <a:ext cx="284473" cy="284476"/>
          </a:xfrm>
          <a:prstGeom prst="rect">
            <a:avLst/>
          </a:prstGeom>
          <a:solidFill>
            <a:srgbClr val="E3A087"/>
          </a:solidFill>
          <a:ln/>
        </p:spPr>
        <p:txBody>
          <a:bodyPr wrap="square" lIns="0" tIns="0" rIns="0" bIns="0" rtlCol="0" anchor="t"/>
          <a:lstStyle/>
          <a:p>
            <a:pPr marL="0" indent="0" algn="ctr">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22" name="Shape 19"/>
          <p:cNvSpPr/>
          <p:nvPr/>
        </p:nvSpPr>
        <p:spPr>
          <a:xfrm>
            <a:off x="947238" y="5218453"/>
            <a:ext cx="284473" cy="284476"/>
          </a:xfrm>
          <a:prstGeom prst="ellipse">
            <a:avLst/>
          </a:prstGeom>
          <a:solidFill>
            <a:srgbClr val="E3A087"/>
          </a:solidFill>
          <a:ln/>
        </p:spPr>
      </p:sp>
      <p:sp>
        <p:nvSpPr>
          <p:cNvPr id="23" name="Text 20"/>
          <p:cNvSpPr/>
          <p:nvPr/>
        </p:nvSpPr>
        <p:spPr>
          <a:xfrm>
            <a:off x="947238" y="5218453"/>
            <a:ext cx="284473" cy="284476"/>
          </a:xfrm>
          <a:prstGeom prst="rect">
            <a:avLst/>
          </a:prstGeom>
          <a:solidFill>
            <a:srgbClr val="E3A087"/>
          </a:solidFill>
          <a:ln/>
        </p:spPr>
        <p:txBody>
          <a:bodyPr wrap="square" lIns="0" tIns="0" rIns="0" bIns="0" rtlCol="0" anchor="t"/>
          <a:lstStyle/>
          <a:p>
            <a:pPr marL="0" indent="0" algn="ctr">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B3232"/>
        </a:solidFill>
        <a:effectLst/>
      </p:bgPr>
    </p:bg>
    <p:spTree>
      <p:nvGrpSpPr>
        <p:cNvPr id="1" name=""/>
        <p:cNvGrpSpPr/>
        <p:nvPr/>
      </p:nvGrpSpPr>
      <p:grpSpPr>
        <a:xfrm>
          <a:off x="0" y="0"/>
          <a:ext cx="0" cy="0"/>
          <a:chOff x="0" y="0"/>
          <a:chExt cx="0" cy="0"/>
        </a:xfrm>
      </p:grpSpPr>
      <p:sp>
        <p:nvSpPr>
          <p:cNvPr id="3" name="Shape 0"/>
          <p:cNvSpPr/>
          <p:nvPr/>
        </p:nvSpPr>
        <p:spPr>
          <a:xfrm>
            <a:off x="2100920" y="1892798"/>
            <a:ext cx="8438744" cy="3681833"/>
          </a:xfrm>
          <a:prstGeom prst="roundRect">
            <a:avLst>
              <a:gd name="adj" fmla="val 9197"/>
            </a:avLst>
          </a:prstGeom>
          <a:solidFill>
            <a:srgbClr val="E3A087">
              <a:alpha val="7000"/>
            </a:srgbClr>
          </a:solidFill>
          <a:ln/>
        </p:spPr>
        <p:txBody>
          <a:bodyPr/>
          <a:lstStyle/>
          <a:p>
            <a:endParaRPr lang="en-IN" dirty="0"/>
          </a:p>
        </p:txBody>
      </p:sp>
      <p:sp>
        <p:nvSpPr>
          <p:cNvPr id="11" name="Text 1"/>
          <p:cNvSpPr/>
          <p:nvPr/>
        </p:nvSpPr>
        <p:spPr>
          <a:xfrm>
            <a:off x="4609025" y="695522"/>
            <a:ext cx="3355880" cy="1069110"/>
          </a:xfrm>
          <a:prstGeom prst="rect">
            <a:avLst/>
          </a:prstGeom>
          <a:noFill/>
          <a:ln/>
        </p:spPr>
        <p:txBody>
          <a:bodyPr wrap="square" lIns="1016" tIns="1016" rIns="1016" bIns="1016" rtlCol="0" anchor="t"/>
          <a:lstStyle/>
          <a:p>
            <a:pPr marL="0" indent="0" algn="ctr">
              <a:lnSpc>
                <a:spcPct val="120186"/>
              </a:lnSpc>
              <a:buNone/>
            </a:pPr>
            <a:r>
              <a:rPr lang="en-US" sz="3200" b="1" dirty="0">
                <a:solidFill>
                  <a:srgbClr val="F9DAC1"/>
                </a:solidFill>
                <a:latin typeface="Georgia" pitchFamily="34" charset="0"/>
                <a:ea typeface="Georgia" pitchFamily="34" charset="-122"/>
                <a:cs typeface="Georgia" pitchFamily="34" charset="-120"/>
              </a:rPr>
              <a:t>Key Takeaways</a:t>
            </a:r>
            <a:endParaRPr lang="en-US" sz="3200" dirty="0"/>
          </a:p>
        </p:txBody>
      </p:sp>
      <p:sp>
        <p:nvSpPr>
          <p:cNvPr id="12" name="Text 2"/>
          <p:cNvSpPr/>
          <p:nvPr/>
        </p:nvSpPr>
        <p:spPr>
          <a:xfrm>
            <a:off x="2444666" y="2937601"/>
            <a:ext cx="7751251" cy="1592226"/>
          </a:xfrm>
          <a:prstGeom prst="rect">
            <a:avLst/>
          </a:prstGeom>
          <a:noFill/>
          <a:ln/>
        </p:spPr>
        <p:txBody>
          <a:bodyPr wrap="square" lIns="1016" tIns="1016" rIns="1016" bIns="1016" rtlCol="0" anchor="t"/>
          <a:lstStyle/>
          <a:p>
            <a:pPr marL="0" indent="0" algn="l">
              <a:lnSpc>
                <a:spcPct val="167237"/>
              </a:lnSpc>
              <a:buNone/>
            </a:pPr>
            <a:r>
              <a:rPr lang="en-US" sz="1400" dirty="0">
                <a:solidFill>
                  <a:srgbClr val="C8B6A6"/>
                </a:solidFill>
                <a:latin typeface="Georgia" pitchFamily="34" charset="0"/>
                <a:ea typeface="Georgia" pitchFamily="34" charset="-122"/>
                <a:cs typeface="Georgia" pitchFamily="34" charset="-120"/>
              </a:rPr>
              <a:t>AgentIQ effectively unifies fragmented agricultural data, enhancing visibility and decision-making for farmers and supply-chain operators. By leveraging AI, users can query complex datasets naturally, leading to actionable insights. Future enhancements, such as real-time data integration and predictive analytics, will further optimize supply chain efficiency and resilience in agriculture.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832</Words>
  <Application>Microsoft Office PowerPoint</Application>
  <PresentationFormat>Widescreen</PresentationFormat>
  <Paragraphs>105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Arshdeep Kaur</cp:lastModifiedBy>
  <cp:revision>2</cp:revision>
  <dcterms:created xsi:type="dcterms:W3CDTF">2026-09-16T17:57:02Z</dcterms:created>
  <dcterms:modified xsi:type="dcterms:W3CDTF">2026-09-16T18:13:33Z</dcterms:modified>
</cp:coreProperties>
</file>